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1" r:id="rId2"/>
  </p:sldMasterIdLst>
  <p:notesMasterIdLst>
    <p:notesMasterId r:id="rId64"/>
  </p:notesMasterIdLst>
  <p:sldIdLst>
    <p:sldId id="268" r:id="rId3"/>
    <p:sldId id="279" r:id="rId4"/>
    <p:sldId id="322" r:id="rId5"/>
    <p:sldId id="458" r:id="rId6"/>
    <p:sldId id="459" r:id="rId7"/>
    <p:sldId id="460" r:id="rId8"/>
    <p:sldId id="461" r:id="rId9"/>
    <p:sldId id="462" r:id="rId10"/>
    <p:sldId id="256" r:id="rId11"/>
    <p:sldId id="280" r:id="rId12"/>
    <p:sldId id="282" r:id="rId13"/>
    <p:sldId id="281" r:id="rId14"/>
    <p:sldId id="364" r:id="rId15"/>
    <p:sldId id="257" r:id="rId16"/>
    <p:sldId id="365" r:id="rId17"/>
    <p:sldId id="366" r:id="rId18"/>
    <p:sldId id="259" r:id="rId19"/>
    <p:sldId id="284" r:id="rId20"/>
    <p:sldId id="269" r:id="rId21"/>
    <p:sldId id="285" r:id="rId22"/>
    <p:sldId id="405" r:id="rId23"/>
    <p:sldId id="286" r:id="rId24"/>
    <p:sldId id="287" r:id="rId25"/>
    <p:sldId id="452" r:id="rId26"/>
    <p:sldId id="270" r:id="rId27"/>
    <p:sldId id="288" r:id="rId28"/>
    <p:sldId id="455" r:id="rId29"/>
    <p:sldId id="271" r:id="rId30"/>
    <p:sldId id="290" r:id="rId31"/>
    <p:sldId id="262" r:id="rId32"/>
    <p:sldId id="263" r:id="rId33"/>
    <p:sldId id="463" r:id="rId34"/>
    <p:sldId id="443" r:id="rId35"/>
    <p:sldId id="444" r:id="rId36"/>
    <p:sldId id="445" r:id="rId37"/>
    <p:sldId id="289" r:id="rId38"/>
    <p:sldId id="292" r:id="rId39"/>
    <p:sldId id="456" r:id="rId40"/>
    <p:sldId id="291" r:id="rId41"/>
    <p:sldId id="272" r:id="rId42"/>
    <p:sldId id="293" r:id="rId43"/>
    <p:sldId id="447" r:id="rId44"/>
    <p:sldId id="448" r:id="rId45"/>
    <p:sldId id="294" r:id="rId46"/>
    <p:sldId id="304" r:id="rId47"/>
    <p:sldId id="273" r:id="rId48"/>
    <p:sldId id="295" r:id="rId49"/>
    <p:sldId id="300" r:id="rId50"/>
    <p:sldId id="299" r:id="rId51"/>
    <p:sldId id="302" r:id="rId52"/>
    <p:sldId id="306" r:id="rId53"/>
    <p:sldId id="303" r:id="rId54"/>
    <p:sldId id="307" r:id="rId55"/>
    <p:sldId id="309" r:id="rId56"/>
    <p:sldId id="308" r:id="rId57"/>
    <p:sldId id="310" r:id="rId58"/>
    <p:sldId id="276" r:id="rId59"/>
    <p:sldId id="277" r:id="rId60"/>
    <p:sldId id="297" r:id="rId61"/>
    <p:sldId id="301" r:id="rId62"/>
    <p:sldId id="274" r:id="rId63"/>
  </p:sldIdLst>
  <p:sldSz cx="12192000" cy="6858000"/>
  <p:notesSz cx="6858000" cy="9144000"/>
  <p:custDataLst>
    <p:tags r:id="rId6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14" autoAdjust="0"/>
    <p:restoredTop sz="82819"/>
  </p:normalViewPr>
  <p:slideViewPr>
    <p:cSldViewPr snapToGrid="0">
      <p:cViewPr>
        <p:scale>
          <a:sx n="92" d="100"/>
          <a:sy n="92" d="100"/>
        </p:scale>
        <p:origin x="312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418993-67EE-0D41-BB2C-91B49ACACFE4}" type="datetimeFigureOut">
              <a:rPr kumimoji="1" lang="zh-CN" altLang="en-US" smtClean="0"/>
              <a:t>2026/10/26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6438B2-24FB-F241-B9E9-92DAC58F350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26BA93-7054-6E40-9DD2-B856B015FD16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FFE93-677B-C572-FF17-9CC4E0199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B6E8A15-93BC-A096-55B9-A0E4DE2B45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74E08B-DF3B-AEB1-3CE2-63FA40586DCC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280103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93F72-99F3-139F-F710-E6441177D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B31C69B-39F0-5A51-32FD-569790E11D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7E5450E-01CA-986F-A6B3-B734BB20B1E8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987457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757D1-23EB-5A90-1412-5307B82BB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AE2521C-9F88-309F-913E-65AB932281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9FD6BB-4064-4ECD-F940-6CBAC1568366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673995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637BB-DF8A-6D47-1CC5-5A999FE90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3E1CDA6-971A-9299-4F92-C9458974AB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EE73581-95FA-DF51-1B49-E364B80CEF93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283337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6438B2-24FB-F241-B9E9-92DAC58F3503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62063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6438B2-24FB-F241-B9E9-92DAC58F3503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160215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4D6A5-FD3E-3301-BDFD-5B7586B78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711BA3E-768F-9E69-4125-476E467E47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5622DA-C380-44B9-D086-F8C839294AA8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440994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C698D-FB9D-D019-ED8F-53FAF7541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4452693-4D24-5867-1FCC-2EE600D1B9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8A76E3D-5DAA-CC52-47E6-82A47D54C445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36342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6438B2-24FB-F241-B9E9-92DAC58F3503}" type="slidenum">
              <a:rPr kumimoji="1" lang="zh-CN" altLang="en-US" smtClean="0"/>
              <a:t>34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122429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这一部分自行探索</a:t>
            </a:r>
            <a:r>
              <a:rPr lang="zh-CN" altLang="en-US" dirty="0"/>
              <a:t>，根据不同的结果选出最好的。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6438B2-24FB-F241-B9E9-92DAC58F3503}" type="slidenum">
              <a:rPr kumimoji="1" lang="zh-CN" altLang="en-US" smtClean="0"/>
              <a:t>35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905927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6438B2-24FB-F241-B9E9-92DAC58F3503}" type="slidenum">
              <a:rPr kumimoji="1" lang="zh-CN" altLang="en-US" smtClean="0"/>
              <a:t>36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1924240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6438B2-24FB-F241-B9E9-92DAC58F3503}" type="slidenum">
              <a:rPr kumimoji="1" lang="zh-CN" altLang="en-US" smtClean="0"/>
              <a:t>37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697450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6438B2-24FB-F241-B9E9-92DAC58F3503}" type="slidenum">
              <a:rPr kumimoji="1" lang="zh-CN" altLang="en-US" smtClean="0"/>
              <a:t>38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7274614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6438B2-24FB-F241-B9E9-92DAC58F3503}" type="slidenum">
              <a:rPr kumimoji="1" lang="zh-CN" altLang="en-US" smtClean="0"/>
              <a:t>39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4056179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6438B2-24FB-F241-B9E9-92DAC58F3503}" type="slidenum">
              <a:rPr kumimoji="1" lang="zh-CN" altLang="en-US" smtClean="0"/>
              <a:t>42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4583695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6438B2-24FB-F241-B9E9-92DAC58F3503}" type="slidenum">
              <a:rPr kumimoji="1" lang="zh-CN" altLang="en-US" smtClean="0"/>
              <a:t>43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0976363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6438B2-24FB-F241-B9E9-92DAC58F3503}" type="slidenum">
              <a:rPr kumimoji="1" lang="zh-CN" altLang="en-US" smtClean="0"/>
              <a:t>44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5965738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6438B2-24FB-F241-B9E9-92DAC58F3503}" type="slidenum">
              <a:rPr kumimoji="1" lang="zh-CN" altLang="en-US" smtClean="0"/>
              <a:t>45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0915775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6438B2-24FB-F241-B9E9-92DAC58F3503}" type="slidenum">
              <a:rPr kumimoji="1" lang="zh-CN" altLang="en-US" smtClean="0"/>
              <a:t>47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0399547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6438B2-24FB-F241-B9E9-92DAC58F3503}" type="slidenum">
              <a:rPr kumimoji="1" lang="zh-CN" altLang="en-US" smtClean="0"/>
              <a:t>48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2895759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-boot 100</a:t>
            </a:r>
            <a:r>
              <a:rPr lang="zh-CN" altLang="en-US" dirty="0"/>
              <a:t>（</a:t>
            </a:r>
            <a:r>
              <a:rPr lang="en-US" altLang="zh-CN" dirty="0"/>
              <a:t>1000</a:t>
            </a:r>
            <a:r>
              <a:rPr lang="zh-CN" altLang="en-US" dirty="0"/>
              <a:t>）</a:t>
            </a:r>
            <a:endParaRPr lang="en-CN" dirty="0"/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6438B2-24FB-F241-B9E9-92DAC58F3503}" type="slidenum">
              <a:rPr kumimoji="1" lang="zh-CN" altLang="en-US" smtClean="0"/>
              <a:t>49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0030734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6438B2-24FB-F241-B9E9-92DAC58F3503}" type="slidenum">
              <a:rPr kumimoji="1" lang="zh-CN" altLang="en-US" smtClean="0"/>
              <a:t>50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3430122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6438B2-24FB-F241-B9E9-92DAC58F3503}" type="slidenum">
              <a:rPr kumimoji="1" lang="zh-CN" altLang="en-US" smtClean="0"/>
              <a:t>53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185779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6438B2-24FB-F241-B9E9-92DAC58F3503}" type="slidenum">
              <a:rPr kumimoji="1" lang="zh-CN" altLang="en-US" smtClean="0"/>
              <a:t>58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6436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3430C-10B3-F947-A8EC-9980BAB4A172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0CAC8-6662-FD46-86D1-D18B9A5A9C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3430C-10B3-F947-A8EC-9980BAB4A172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0CAC8-6662-FD46-86D1-D18B9A5A9C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3430C-10B3-F947-A8EC-9980BAB4A172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0CAC8-6662-FD46-86D1-D18B9A5A9C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3430C-10B3-F947-A8EC-9980BAB4A172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0CAC8-6662-FD46-86D1-D18B9A5A9C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3430C-10B3-F947-A8EC-9980BAB4A172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0CAC8-6662-FD46-86D1-D18B9A5A9C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3430C-10B3-F947-A8EC-9980BAB4A172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0CAC8-6662-FD46-86D1-D18B9A5A9C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3430C-10B3-F947-A8EC-9980BAB4A172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0CAC8-6662-FD46-86D1-D18B9A5A9C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3430C-10B3-F947-A8EC-9980BAB4A172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0CAC8-6662-FD46-86D1-D18B9A5A9C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3430C-10B3-F947-A8EC-9980BAB4A172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0CAC8-6662-FD46-86D1-D18B9A5A9C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3430C-10B3-F947-A8EC-9980BAB4A172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0CAC8-6662-FD46-86D1-D18B9A5A9C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3430C-10B3-F947-A8EC-9980BAB4A172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0CAC8-6662-FD46-86D1-D18B9A5A9C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330" y="1429385"/>
            <a:ext cx="10968355" cy="381635"/>
          </a:xfrm>
        </p:spPr>
        <p:txBody>
          <a:bodyPr lIns="101600" tIns="38100" rIns="76200" bIns="38100" anchor="ctr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单击此处编辑副标题</a:t>
            </a:r>
            <a:endParaRPr lang="en-US" altLang="zh-CN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3430C-10B3-F947-A8EC-9980BAB4A172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0CAC8-6662-FD46-86D1-D18B9A5A9C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3430C-10B3-F947-A8EC-9980BAB4A172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0CAC8-6662-FD46-86D1-D18B9A5A9C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3430C-10B3-F947-A8EC-9980BAB4A172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0CAC8-6662-FD46-86D1-D18B9A5A9C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3430C-10B3-F947-A8EC-9980BAB4A172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0CAC8-6662-FD46-86D1-D18B9A5A9C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3430C-10B3-F947-A8EC-9980BAB4A172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0CAC8-6662-FD46-86D1-D18B9A5A9C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3430C-10B3-F947-A8EC-9980BAB4A172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0CAC8-6662-FD46-86D1-D18B9A5A9C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3430C-10B3-F947-A8EC-9980BAB4A172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0CAC8-6662-FD46-86D1-D18B9A5A9C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3430C-10B3-F947-A8EC-9980BAB4A172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0CAC8-6662-FD46-86D1-D18B9A5A9C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3430C-10B3-F947-A8EC-9980BAB4A172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0CAC8-6662-FD46-86D1-D18B9A5A9C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3430C-10B3-F947-A8EC-9980BAB4A172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0CAC8-6662-FD46-86D1-D18B9A5A9C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3430C-10B3-F947-A8EC-9980BAB4A172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0CAC8-6662-FD46-86D1-D18B9A5A9C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13430C-10B3-F947-A8EC-9980BAB4A172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0CAC8-6662-FD46-86D1-D18B9A5A9C4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13430C-10B3-F947-A8EC-9980BAB4A172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0CAC8-6662-FD46-86D1-D18B9A5A9C4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jbc.2023.103038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inluo60/course-project-1-Subfamily-classification-of-glycoside-hydrolase-family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cazy.org/GH31.html" TargetMode="External"/><Relationship Id="rId5" Type="http://schemas.openxmlformats.org/officeDocument/2006/relationships/hyperlink" Target="http://www.cazy.org/Glycoside-Hydrolases.html" TargetMode="External"/><Relationship Id="rId4" Type="http://schemas.openxmlformats.org/officeDocument/2006/relationships/hyperlink" Target="http://www.cazy.org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www.ncbi.nlm.nih.gov/books/NBK179288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ncbi.nlm.nih.gov/books/NBK25497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account.ncbi.nlm.nih.gov/&#160;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ftp.ncbi.nlm.nih.gov/entrez/entrezdirect/install-edirect.sh" TargetMode="Externa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%20%20%20https:/bcb.unl.edu/dbCAN2/%0d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hyperlink" Target="https://bcb.unl.edu/dbCAN2/%0d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bcb.unl.edu/dbCAN2/download/Databases/dbCAN-old@UGA/hmmscan-parser.sh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bcb.unl.edu/dbCAN2/download/Databases/dbCAN-old@UGA/readme.txt" TargetMode="External"/><Relationship Id="rId4" Type="http://schemas.openxmlformats.org/officeDocument/2006/relationships/hyperlink" Target="https://bcb.unl.edu/dbCAN2/download/Databases/dbCAN-old@UGA/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iguelMSandin/SSNetworks" TargetMode="Externa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hvdk/SSNpipe/releases/download/v.1.0-beta/ssnpipe_unix.tar.gz" TargetMode="Externa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48.png"/><Relationship Id="rId4" Type="http://schemas.openxmlformats.org/officeDocument/2006/relationships/image" Target="../media/image43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itol.embl.de/" TargetMode="External"/><Relationship Id="rId7" Type="http://schemas.openxmlformats.org/officeDocument/2006/relationships/image" Target="../media/image8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itol.embl.de/help/colors_styles_template.txt" TargetMode="External"/><Relationship Id="rId2" Type="http://schemas.openxmlformats.org/officeDocument/2006/relationships/hyperlink" Target="https://itol.embl.de/help.cgi#function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csb.org/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bi.ac.uk/Tools/sss/fasta/" TargetMode="External"/><Relationship Id="rId2" Type="http://schemas.openxmlformats.org/officeDocument/2006/relationships/hyperlink" Target="https://alphafold.ebi.ac.uk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hyperlink" Target="https://colab.research.google.com/github/sokrypton/ColabFold/blob/main/AlphaFold2.ipynb" TargetMode="Externa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451" y="1227817"/>
            <a:ext cx="11662587" cy="1195106"/>
          </a:xfrm>
        </p:spPr>
        <p:txBody>
          <a:bodyPr>
            <a:noAutofit/>
          </a:bodyPr>
          <a:lstStyle/>
          <a:p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Project 1: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Subfamily classification of glycoside hydrolase family</a:t>
            </a:r>
          </a:p>
        </p:txBody>
      </p:sp>
      <p:sp>
        <p:nvSpPr>
          <p:cNvPr id="4" name="Google Shape;94;p1"/>
          <p:cNvSpPr txBox="1"/>
          <p:nvPr/>
        </p:nvSpPr>
        <p:spPr>
          <a:xfrm>
            <a:off x="2460770" y="2685288"/>
            <a:ext cx="7803061" cy="31781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chemeClr val="dk1"/>
              </a:buClr>
              <a:buSzPts val="3200"/>
            </a:pPr>
            <a:r>
              <a:rPr lang="en-US" sz="2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Siva Shanmugam (Postdoc)</a:t>
            </a:r>
          </a:p>
          <a:p>
            <a:pPr>
              <a:spcBef>
                <a:spcPts val="0"/>
              </a:spcBef>
              <a:buClr>
                <a:schemeClr val="dk1"/>
              </a:buClr>
              <a:buSzPts val="3200"/>
            </a:pPr>
            <a:r>
              <a:rPr lang="en-US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Xinpeng</a:t>
            </a: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Zhang (PhD student)</a:t>
            </a:r>
          </a:p>
          <a:p>
            <a:pPr>
              <a:spcBef>
                <a:spcPts val="0"/>
              </a:spcBef>
              <a:buClr>
                <a:schemeClr val="dk1"/>
              </a:buClr>
              <a:buSzPts val="3200"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 Luo (Master student)</a:t>
            </a:r>
          </a:p>
          <a:p>
            <a:pPr>
              <a:spcBef>
                <a:spcPts val="0"/>
              </a:spcBef>
              <a:buClr>
                <a:schemeClr val="dk1"/>
              </a:buClr>
              <a:buSzPts val="3200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480"/>
              </a:spcBef>
              <a:buClr>
                <a:schemeClr val="dk1"/>
              </a:buClr>
              <a:buSzPts val="2400"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Food Science and Technology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480"/>
              </a:spcBef>
              <a:buClr>
                <a:schemeClr val="dk1"/>
              </a:buClr>
              <a:buSzPts val="2400"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10/29/2026</a:t>
            </a:r>
          </a:p>
          <a:p>
            <a:pPr>
              <a:spcBef>
                <a:spcPts val="480"/>
              </a:spcBef>
              <a:buClr>
                <a:schemeClr val="dk1"/>
              </a:buClr>
              <a:buSzPts val="2400"/>
            </a:pPr>
            <a:endParaRPr lang="en-US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480"/>
              </a:spcBef>
              <a:buClr>
                <a:schemeClr val="dk1"/>
              </a:buClr>
              <a:buSzPts val="2400"/>
            </a:pPr>
            <a:endParaRPr lang="en-US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98;p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75451" y="175538"/>
            <a:ext cx="3786949" cy="930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99;p1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085005" y="175538"/>
            <a:ext cx="2931543" cy="93059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5051685" y="6125828"/>
            <a:ext cx="26212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PI: Dr. Yanbin Yin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1994" y="5442714"/>
            <a:ext cx="3440615" cy="4663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61095" y="705485"/>
            <a:ext cx="6944995" cy="2788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Goal: </a:t>
            </a:r>
            <a:r>
              <a:rPr kumimoji="1" lang="en-US" altLang="zh-CN" sz="24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Classify the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CAZy</a:t>
            </a:r>
            <a:r>
              <a:rPr kumimoji="1" lang="en-US" altLang="zh-CN" sz="24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family into subfamilies, analyze and visualize them using Bioinformatics tools and methods.</a:t>
            </a:r>
          </a:p>
          <a:p>
            <a:pPr algn="just"/>
            <a:endParaRPr kumimoji="1" lang="en-US" altLang="zh-CN" sz="2400" dirty="0"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In this project, we will do CAZyme subfamily classification following the paper:</a:t>
            </a:r>
            <a:endParaRPr lang="en-US" altLang="zh-CN" sz="2400" dirty="0"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algn="just"/>
            <a:r>
              <a:rPr lang="en-US" sz="1200" b="1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  </a:t>
            </a:r>
            <a:r>
              <a:rPr lang="en-US" sz="2000" b="1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    DOI:</a:t>
            </a:r>
            <a:r>
              <a:rPr lang="en-US" sz="2000" b="1" dirty="0">
                <a:solidFill>
                  <a:srgbClr val="2F5496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 </a:t>
            </a:r>
            <a:r>
              <a:rPr lang="en-US" sz="2000" dirty="0">
                <a:solidFill>
                  <a:srgbClr val="0272B1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hlinkClick r:id="rId3"/>
              </a:rPr>
              <a:t>https://doi.org/10.1016/j.jbc.2023.103038</a:t>
            </a:r>
            <a:endParaRPr kumimoji="1" lang="en-US" altLang="zh-CN" sz="2800" dirty="0"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indent="0" algn="just">
              <a:buFont typeface="Arial" panose="020B0604020202020204" pitchFamily="34" charset="0"/>
              <a:buNone/>
            </a:pPr>
            <a:endParaRPr kumimoji="1" lang="en-US" altLang="zh-CN" sz="2400" dirty="0"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rcRect t="5328" b="13504"/>
          <a:stretch>
            <a:fillRect/>
          </a:stretch>
        </p:blipFill>
        <p:spPr>
          <a:xfrm>
            <a:off x="7164705" y="311150"/>
            <a:ext cx="4965383" cy="279209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19710" y="3494405"/>
            <a:ext cx="115665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ea"/>
              </a:rPr>
              <a:t>We will use GH31 as an example to show all analyses</a:t>
            </a: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ea"/>
              </a:rPr>
              <a:t>Students will form two groups to work together on </a:t>
            </a:r>
            <a:r>
              <a:rPr kumimoji="1"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ea"/>
              </a:rPr>
              <a:t>GH5 (group 1)</a:t>
            </a:r>
            <a:r>
              <a:rPr kumimoji="1" lang="en-US" altLang="zh-CN" sz="24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ea"/>
              </a:rPr>
              <a:t> or </a:t>
            </a:r>
            <a:r>
              <a:rPr kumimoji="1"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ea"/>
              </a:rPr>
              <a:t>GH16 (group 2)</a:t>
            </a:r>
            <a:endParaRPr kumimoji="1" lang="en-US" altLang="zh-CN" sz="2400" dirty="0"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endParaRPr kumimoji="1" lang="en-US" altLang="zh-CN" sz="2400" dirty="0">
              <a:ea typeface="等线" panose="0201060003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19710" y="171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710" y="4832350"/>
            <a:ext cx="5455920" cy="17145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8680" y="4878070"/>
            <a:ext cx="5966460" cy="16687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866775" y="1321816"/>
            <a:ext cx="9330690" cy="4970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1.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Workflow</a:t>
            </a: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2.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Data preparation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Domain annotation</a:t>
            </a: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4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Domain extraction</a:t>
            </a: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5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Sequence similarity networks (SSNpipe)</a:t>
            </a: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6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Cytoscape Visualization</a:t>
            </a: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7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 Phylogenentic Analysis</a:t>
            </a: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8. Other analysis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60E020-C499-689F-D1AB-52397126AB44}"/>
              </a:ext>
            </a:extLst>
          </p:cNvPr>
          <p:cNvSpPr txBox="1"/>
          <p:nvPr/>
        </p:nvSpPr>
        <p:spPr>
          <a:xfrm>
            <a:off x="377952" y="391845"/>
            <a:ext cx="17800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Outline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33289-4D03-9904-3A25-0396F90C3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44E05-4F8C-D180-D5CE-F68D5F0445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95700" y="2975768"/>
            <a:ext cx="4800600" cy="906463"/>
          </a:xfrm>
        </p:spPr>
        <p:txBody>
          <a:bodyPr>
            <a:noAutofit/>
          </a:bodyPr>
          <a:lstStyle/>
          <a:p>
            <a:b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</a:p>
        </p:txBody>
      </p:sp>
    </p:spTree>
    <p:extLst>
      <p:ext uri="{BB962C8B-B14F-4D97-AF65-F5344CB8AC3E}">
        <p14:creationId xmlns:p14="http://schemas.microsoft.com/office/powerpoint/2010/main" val="3381549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076A9-5868-CF39-3BE2-2BED98F67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Box 9">
            <a:extLst>
              <a:ext uri="{FF2B5EF4-FFF2-40B4-BE49-F238E27FC236}">
                <a16:creationId xmlns:a16="http://schemas.microsoft.com/office/drawing/2014/main" id="{8CDD9D91-8255-80C6-CFEA-967332EF555A}"/>
              </a:ext>
            </a:extLst>
          </p:cNvPr>
          <p:cNvSpPr txBox="1"/>
          <p:nvPr/>
        </p:nvSpPr>
        <p:spPr>
          <a:xfrm>
            <a:off x="2767965" y="4760595"/>
            <a:ext cx="5281930" cy="6832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bg1">
                <a:lumMod val="65000"/>
              </a:schemeClr>
            </a:solidFill>
            <a:prstDash val="dash"/>
          </a:ln>
        </p:spPr>
        <p:txBody>
          <a:bodyPr wrap="square" rtlCol="0">
            <a:noAutofit/>
          </a:bodyPr>
          <a:lstStyle/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AD69170D-9598-5688-D192-80D2795D2A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049" t="6452" r="14356" b="15255"/>
          <a:stretch>
            <a:fillRect/>
          </a:stretch>
        </p:blipFill>
        <p:spPr>
          <a:xfrm>
            <a:off x="8066405" y="3187065"/>
            <a:ext cx="1370965" cy="739775"/>
          </a:xfrm>
          <a:prstGeom prst="rect">
            <a:avLst/>
          </a:prstGeom>
        </p:spPr>
      </p:pic>
      <p:sp>
        <p:nvSpPr>
          <p:cNvPr id="49" name="TextBox 9">
            <a:extLst>
              <a:ext uri="{FF2B5EF4-FFF2-40B4-BE49-F238E27FC236}">
                <a16:creationId xmlns:a16="http://schemas.microsoft.com/office/drawing/2014/main" id="{47A56668-E591-EEFD-2BB3-956FD7EBB5BC}"/>
              </a:ext>
            </a:extLst>
          </p:cNvPr>
          <p:cNvSpPr txBox="1"/>
          <p:nvPr/>
        </p:nvSpPr>
        <p:spPr>
          <a:xfrm>
            <a:off x="2893060" y="3089910"/>
            <a:ext cx="4657725" cy="1007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bg1">
                <a:lumMod val="65000"/>
              </a:schemeClr>
            </a:solidFill>
            <a:prstDash val="dash"/>
          </a:ln>
        </p:spPr>
        <p:txBody>
          <a:bodyPr wrap="square" rtlCol="0">
            <a:noAutofit/>
          </a:bodyPr>
          <a:lstStyle/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F6A69C5A-70DA-331E-EEDF-378BC9F5825D}"/>
              </a:ext>
            </a:extLst>
          </p:cNvPr>
          <p:cNvPicPr/>
          <p:nvPr/>
        </p:nvPicPr>
        <p:blipFill>
          <a:blip r:embed="rId4"/>
          <a:srcRect l="10136" t="25454" b="26444"/>
          <a:stretch>
            <a:fillRect/>
          </a:stretch>
        </p:blipFill>
        <p:spPr>
          <a:xfrm>
            <a:off x="9281795" y="1326515"/>
            <a:ext cx="1198880" cy="572135"/>
          </a:xfrm>
          <a:prstGeom prst="rect">
            <a:avLst/>
          </a:prstGeom>
        </p:spPr>
      </p:pic>
      <p:grpSp>
        <p:nvGrpSpPr>
          <p:cNvPr id="58" name="组合 57">
            <a:extLst>
              <a:ext uri="{FF2B5EF4-FFF2-40B4-BE49-F238E27FC236}">
                <a16:creationId xmlns:a16="http://schemas.microsoft.com/office/drawing/2014/main" id="{DC6266F5-2235-EFA9-F974-D3414AE1EE31}"/>
              </a:ext>
            </a:extLst>
          </p:cNvPr>
          <p:cNvGrpSpPr/>
          <p:nvPr/>
        </p:nvGrpSpPr>
        <p:grpSpPr>
          <a:xfrm>
            <a:off x="3254375" y="1338580"/>
            <a:ext cx="3957320" cy="902970"/>
            <a:chOff x="3899" y="730"/>
            <a:chExt cx="6232" cy="1422"/>
          </a:xfrm>
        </p:grpSpPr>
        <p:sp>
          <p:nvSpPr>
            <p:cNvPr id="48" name="TextBox 9">
              <a:extLst>
                <a:ext uri="{FF2B5EF4-FFF2-40B4-BE49-F238E27FC236}">
                  <a16:creationId xmlns:a16="http://schemas.microsoft.com/office/drawing/2014/main" id="{F3DB35EA-6422-B220-CE86-11690486590C}"/>
                </a:ext>
              </a:extLst>
            </p:cNvPr>
            <p:cNvSpPr txBox="1"/>
            <p:nvPr/>
          </p:nvSpPr>
          <p:spPr>
            <a:xfrm>
              <a:off x="4070" y="730"/>
              <a:ext cx="5789" cy="142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bg1">
                  <a:lumMod val="65000"/>
                </a:schemeClr>
              </a:solidFill>
              <a:prstDash val="dash"/>
            </a:ln>
          </p:spPr>
          <p:txBody>
            <a:bodyPr wrap="square" rtlCol="0">
              <a:noAutofit/>
            </a:bodyPr>
            <a:lstStyle/>
            <a:p>
              <a:pPr algn="ctr"/>
              <a:endParaRPr lang="en-US" b="1" dirty="0"/>
            </a:p>
            <a:p>
              <a:pPr algn="ctr"/>
              <a:endParaRPr lang="en-US" b="1" dirty="0"/>
            </a:p>
            <a:p>
              <a:pPr algn="ctr"/>
              <a:endParaRPr lang="en-US" b="1" dirty="0"/>
            </a:p>
            <a:p>
              <a:pPr algn="ctr"/>
              <a:endParaRPr lang="en-US" b="1" dirty="0"/>
            </a:p>
            <a:p>
              <a:pPr algn="ctr"/>
              <a:endParaRPr lang="en-US" b="1" dirty="0"/>
            </a:p>
            <a:p>
              <a:pPr algn="ctr"/>
              <a:endParaRPr lang="en-US" b="1" dirty="0"/>
            </a:p>
            <a:p>
              <a:pPr algn="ctr"/>
              <a:endParaRPr lang="en-US" b="1" dirty="0"/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44969C40-2D4A-2275-CBDB-F92C82293490}"/>
                </a:ext>
              </a:extLst>
            </p:cNvPr>
            <p:cNvSpPr txBox="1"/>
            <p:nvPr/>
          </p:nvSpPr>
          <p:spPr>
            <a:xfrm>
              <a:off x="3899" y="832"/>
              <a:ext cx="6233" cy="67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>
                <a:buClrTx/>
                <a:buSzTx/>
                <a:buFontTx/>
                <a:buNone/>
              </a:pPr>
              <a:r>
                <a:rPr lang="zh-CN" altLang="en-US" sz="1800" b="1">
                  <a:solidFill>
                    <a:schemeClr val="tx1"/>
                  </a:solidFill>
                  <a:sym typeface="+mn-ea"/>
                </a:rPr>
                <a:t>GH31 protein sequences</a:t>
              </a:r>
            </a:p>
            <a:p>
              <a:pPr algn="ctr">
                <a:buClrTx/>
                <a:buSzTx/>
                <a:buFontTx/>
                <a:buNone/>
              </a:pPr>
              <a:r>
                <a:rPr lang="en-US" altLang="en-GB" sz="1400" b="1">
                  <a:solidFill>
                    <a:schemeClr val="tx1"/>
                  </a:solidFill>
                  <a:latin typeface="Courier New" panose="02070309020205020404"/>
                  <a:ea typeface="等线" panose="02010600030101010101" charset="-122"/>
                  <a:cs typeface="Courier New" panose="02070309020205020404"/>
                  <a:sym typeface="+mn-ea"/>
                </a:rPr>
                <a:t>(</a:t>
              </a:r>
              <a:r>
                <a:rPr lang="en-GB" altLang="zh-CN" sz="1400" b="1">
                  <a:solidFill>
                    <a:schemeClr val="tx1"/>
                  </a:solidFill>
                  <a:latin typeface="Courier New" panose="02070309020205020404"/>
                  <a:ea typeface="等线" panose="02010600030101010101" charset="-122"/>
                  <a:cs typeface="Courier New" panose="02070309020205020404"/>
                  <a:sym typeface="+mn-ea"/>
                </a:rPr>
                <a:t>batch_protein_sequences.fasta</a:t>
              </a:r>
              <a:r>
                <a:rPr lang="en-US" altLang="en-GB" sz="1600" b="1">
                  <a:solidFill>
                    <a:schemeClr val="tx1"/>
                  </a:solidFill>
                  <a:latin typeface="Courier New" panose="02070309020205020404"/>
                  <a:ea typeface="等线" panose="02010600030101010101" charset="-122"/>
                  <a:cs typeface="Courier New" panose="02070309020205020404"/>
                  <a:sym typeface="+mn-ea"/>
                </a:rPr>
                <a:t>)</a:t>
              </a:r>
              <a:endParaRPr lang="en-GB" altLang="zh-CN" sz="160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/>
                <a:ea typeface="等线" panose="02010600030101010101" charset="-122"/>
                <a:cs typeface="Courier New" panose="02070309020205020404"/>
                <a:sym typeface="+mn-ea"/>
              </a:endParaRPr>
            </a:p>
            <a:p>
              <a:pPr indent="0" algn="l">
                <a:buClrTx/>
                <a:buSzTx/>
                <a:buFont typeface="Arial" panose="020B0604020202020204" pitchFamily="34" charset="0"/>
                <a:buNone/>
              </a:pPr>
              <a:endParaRPr lang="en-US" altLang="en-GB" sz="2000" b="1" dirty="0">
                <a:solidFill>
                  <a:schemeClr val="tx1"/>
                </a:solidFill>
                <a:highlight>
                  <a:srgbClr val="FFFF00"/>
                </a:highlight>
                <a:ea typeface="等线" panose="02010600030101010101" charset="-122"/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722FA8A8-02A6-E2EC-2EF4-66ED6195B3C3}"/>
              </a:ext>
            </a:extLst>
          </p:cNvPr>
          <p:cNvSpPr txBox="1"/>
          <p:nvPr/>
        </p:nvSpPr>
        <p:spPr>
          <a:xfrm>
            <a:off x="2784475" y="3310255"/>
            <a:ext cx="4896485" cy="9207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buClrTx/>
              <a:buSzTx/>
              <a:buFontTx/>
            </a:pPr>
            <a:r>
              <a:rPr lang="zh-CN" altLang="en-US" b="1" dirty="0">
                <a:solidFill>
                  <a:schemeClr val="tx1"/>
                </a:solidFill>
                <a:sym typeface="+mn-ea"/>
              </a:rPr>
              <a:t>filtered file containing high-confidence matches</a:t>
            </a:r>
          </a:p>
          <a:p>
            <a:pPr algn="ctr"/>
            <a:r>
              <a:rPr lang="en-US" altLang="en-GB" sz="1400" b="1" dirty="0">
                <a:solidFill>
                  <a:schemeClr val="tx1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  <a:sym typeface="+mn-ea"/>
              </a:rPr>
              <a:t>(</a:t>
            </a:r>
            <a:r>
              <a:rPr lang="en-GB" altLang="zh-CN" sz="1400" b="1" dirty="0">
                <a:solidFill>
                  <a:schemeClr val="tx1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  <a:sym typeface="+mn-ea"/>
              </a:rPr>
              <a:t>gh31_hmmscan.out.dm.ps.stringent</a:t>
            </a:r>
            <a:r>
              <a:rPr lang="en-US" altLang="en-GB" sz="1400" b="1" dirty="0">
                <a:solidFill>
                  <a:schemeClr val="tx1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  <a:sym typeface="+mn-ea"/>
              </a:rPr>
              <a:t>)</a:t>
            </a:r>
            <a:endParaRPr lang="en-GB" altLang="zh-CN" sz="1400" b="1" dirty="0">
              <a:solidFill>
                <a:srgbClr val="000000"/>
              </a:solidFill>
              <a:latin typeface="Courier New" panose="02070309020205020404"/>
              <a:ea typeface="等线" panose="02010600030101010101" charset="-122"/>
              <a:cs typeface="Courier New" panose="02070309020205020404"/>
            </a:endParaRPr>
          </a:p>
          <a:p>
            <a:endParaRPr lang="en-GB" altLang="zh-CN" sz="1400" b="1" dirty="0">
              <a:solidFill>
                <a:srgbClr val="000000"/>
              </a:solidFill>
              <a:latin typeface="Courier New" panose="02070309020205020404"/>
              <a:ea typeface="等线" panose="02010600030101010101" charset="-122"/>
              <a:cs typeface="Courier New" panose="02070309020205020404"/>
            </a:endParaRP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E42D2157-4548-F490-68E8-632C817EFE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5680" y="1533525"/>
            <a:ext cx="1629410" cy="391795"/>
          </a:xfrm>
          <a:prstGeom prst="rect">
            <a:avLst/>
          </a:prstGeom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9E3144A2-F712-1B78-7DEF-98CE2960BCFE}"/>
              </a:ext>
            </a:extLst>
          </p:cNvPr>
          <p:cNvSpPr txBox="1"/>
          <p:nvPr/>
        </p:nvSpPr>
        <p:spPr>
          <a:xfrm>
            <a:off x="583565" y="1603375"/>
            <a:ext cx="2428240" cy="2952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 b="1">
                <a:sym typeface="+mn-ea"/>
              </a:rPr>
              <a:t>Data </a:t>
            </a:r>
            <a:r>
              <a:rPr lang="en-US" altLang="zh-CN" sz="2000" b="1">
                <a:sym typeface="+mn-ea"/>
              </a:rPr>
              <a:t>download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4F50BCA-FB8A-8D93-4630-BFA927A1E3D9}"/>
              </a:ext>
            </a:extLst>
          </p:cNvPr>
          <p:cNvSpPr txBox="1"/>
          <p:nvPr/>
        </p:nvSpPr>
        <p:spPr>
          <a:xfrm>
            <a:off x="427355" y="3310255"/>
            <a:ext cx="274066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>
                <a:sym typeface="+mn-ea"/>
              </a:rPr>
              <a:t> Domain annotation</a:t>
            </a: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73608928-0202-824E-E274-F94340045E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6740" y="3187065"/>
            <a:ext cx="1402715" cy="641985"/>
          </a:xfrm>
          <a:prstGeom prst="rect">
            <a:avLst/>
          </a:prstGeom>
        </p:spPr>
      </p:pic>
      <p:sp>
        <p:nvSpPr>
          <p:cNvPr id="39" name="文本框 38">
            <a:extLst>
              <a:ext uri="{FF2B5EF4-FFF2-40B4-BE49-F238E27FC236}">
                <a16:creationId xmlns:a16="http://schemas.microsoft.com/office/drawing/2014/main" id="{3044E727-FF6B-ACD0-44FA-CAF9091D623F}"/>
              </a:ext>
            </a:extLst>
          </p:cNvPr>
          <p:cNvSpPr txBox="1"/>
          <p:nvPr/>
        </p:nvSpPr>
        <p:spPr>
          <a:xfrm>
            <a:off x="5253355" y="2328545"/>
            <a:ext cx="1785620" cy="5822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kumimoji="1" lang="en-US" altLang="zh-CN" sz="1600">
                <a:solidFill>
                  <a:srgbClr val="FF0000"/>
                </a:solidFill>
                <a:ea typeface="等线" panose="02010600030101010101" charset="-122"/>
                <a:sym typeface="+mn-ea"/>
              </a:rPr>
              <a:t> E- Value &lt; 1e-15 </a:t>
            </a:r>
          </a:p>
          <a:p>
            <a:r>
              <a:rPr kumimoji="1" lang="en-US" altLang="zh-CN" sz="1600">
                <a:solidFill>
                  <a:srgbClr val="FF0000"/>
                </a:solidFill>
                <a:ea typeface="等线" panose="02010600030101010101" charset="-122"/>
                <a:sym typeface="+mn-ea"/>
              </a:rPr>
              <a:t> coverage &gt;0.35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EAD9186C-60F7-BFEC-C85F-28A3B3EAA6CD}"/>
              </a:ext>
            </a:extLst>
          </p:cNvPr>
          <p:cNvSpPr txBox="1"/>
          <p:nvPr/>
        </p:nvSpPr>
        <p:spPr>
          <a:xfrm>
            <a:off x="471805" y="4765040"/>
            <a:ext cx="2740660" cy="635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>
                <a:sym typeface="+mn-ea"/>
              </a:rPr>
              <a:t> </a:t>
            </a:r>
            <a:r>
              <a:rPr lang="zh-CN" altLang="en-US" sz="2000" b="1">
                <a:sym typeface="+mn-ea"/>
              </a:rPr>
              <a:t>Domain extraction</a:t>
            </a:r>
            <a:endParaRPr lang="zh-CN" altLang="en-US" sz="2000">
              <a:sym typeface="+mn-ea"/>
            </a:endParaRPr>
          </a:p>
          <a:p>
            <a:endParaRPr lang="zh-CN" altLang="en-US" sz="2000">
              <a:sym typeface="+mn-ea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A60BF36-79E4-8304-022B-AF88EB755D36}"/>
              </a:ext>
            </a:extLst>
          </p:cNvPr>
          <p:cNvSpPr txBox="1"/>
          <p:nvPr/>
        </p:nvSpPr>
        <p:spPr>
          <a:xfrm>
            <a:off x="8118475" y="4780280"/>
            <a:ext cx="3810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1600" b="1" dirty="0" err="1">
                <a:latin typeface="Courier New" panose="02070309020205020404"/>
                <a:ea typeface="等线" panose="02010600030101010101" charset="-122"/>
                <a:cs typeface="Courier New" panose="02070309020205020404"/>
                <a:sym typeface="+mn-ea"/>
              </a:rPr>
              <a:t>filter_modules</a:t>
            </a:r>
            <a:r>
              <a:rPr lang="en-US" sz="1600" b="1" dirty="0" err="1">
                <a:latin typeface="Courier New" panose="02070309020205020404"/>
                <a:ea typeface="等线" panose="02010600030101010101" charset="-122"/>
                <a:cs typeface="Courier New" panose="02070309020205020404"/>
                <a:sym typeface="+mn-ea"/>
              </a:rPr>
              <a:t>.py</a:t>
            </a:r>
            <a:endParaRPr lang="zh-CN" altLang="en-US" sz="1600" b="1" dirty="0">
              <a:latin typeface="Courier New" panose="02070309020205020404"/>
              <a:ea typeface="等线" panose="02010600030101010101" charset="-122"/>
              <a:cs typeface="Courier New" panose="02070309020205020404"/>
              <a:sym typeface="+mn-ea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24B479DA-E828-AD1F-CB89-C0036D883BE8}"/>
              </a:ext>
            </a:extLst>
          </p:cNvPr>
          <p:cNvSpPr txBox="1"/>
          <p:nvPr/>
        </p:nvSpPr>
        <p:spPr>
          <a:xfrm>
            <a:off x="2718435" y="4738370"/>
            <a:ext cx="5400040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2000" b="1"/>
              <a:t>extracted GH31 domain</a:t>
            </a:r>
            <a:r>
              <a:rPr lang="en-US" altLang="zh-CN" sz="2000" b="1"/>
              <a:t> sequences</a:t>
            </a:r>
            <a:endParaRPr lang="zh-CN" altLang="en-US" sz="2000" b="1"/>
          </a:p>
          <a:p>
            <a:pPr algn="ctr">
              <a:buClrTx/>
              <a:buSzTx/>
              <a:buFontTx/>
            </a:pPr>
            <a:r>
              <a:rPr lang="en-GB" altLang="zh-CN" sz="1600" b="1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/>
                <a:ea typeface="等线" panose="02010600030101010101" charset="-122"/>
                <a:cs typeface="Courier New" panose="02070309020205020404"/>
                <a:sym typeface="+mn-ea"/>
              </a:rPr>
              <a:t>(random_selected_extracted_domains_02.faa)</a:t>
            </a:r>
          </a:p>
          <a:p>
            <a:pPr algn="ctr">
              <a:buClrTx/>
              <a:buSzTx/>
              <a:buFontTx/>
            </a:pPr>
            <a:endParaRPr lang="en-GB" altLang="zh-CN" sz="1600" b="1">
              <a:solidFill>
                <a:srgbClr val="FF0000"/>
              </a:solidFill>
              <a:highlight>
                <a:srgbClr val="FFFF00"/>
              </a:highlight>
              <a:latin typeface="Courier New" panose="02070309020205020404"/>
              <a:ea typeface="等线" panose="02010600030101010101" charset="-122"/>
              <a:cs typeface="Courier New" panose="02070309020205020404"/>
              <a:sym typeface="+mn-ea"/>
            </a:endParaRPr>
          </a:p>
        </p:txBody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83D4C8FD-A946-ACAB-2D1B-A59DC0D581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6920" y="5111750"/>
            <a:ext cx="990600" cy="518160"/>
          </a:xfrm>
          <a:prstGeom prst="rect">
            <a:avLst/>
          </a:prstGeom>
        </p:spPr>
      </p:pic>
      <p:sp>
        <p:nvSpPr>
          <p:cNvPr id="47" name="文本框 46">
            <a:extLst>
              <a:ext uri="{FF2B5EF4-FFF2-40B4-BE49-F238E27FC236}">
                <a16:creationId xmlns:a16="http://schemas.microsoft.com/office/drawing/2014/main" id="{70127C30-010D-1D95-B2BE-E4924E0A2FD6}"/>
              </a:ext>
            </a:extLst>
          </p:cNvPr>
          <p:cNvSpPr txBox="1"/>
          <p:nvPr/>
        </p:nvSpPr>
        <p:spPr>
          <a:xfrm>
            <a:off x="9437370" y="5215255"/>
            <a:ext cx="23622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  <a:buFontTx/>
            </a:pPr>
            <a:r>
              <a:rPr kumimoji="1" lang="en-US" altLang="zh-CN" sz="1600">
                <a:solidFill>
                  <a:srgbClr val="FF0000"/>
                </a:solidFill>
                <a:ea typeface="等线" panose="02010600030101010101" charset="-122"/>
                <a:sym typeface="+mn-ea"/>
              </a:rPr>
              <a:t>random subset (20% ) </a:t>
            </a:r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B4E388DD-671A-5ACE-A092-DFCF4086C9ED}"/>
              </a:ext>
            </a:extLst>
          </p:cNvPr>
          <p:cNvCxnSpPr/>
          <p:nvPr/>
        </p:nvCxnSpPr>
        <p:spPr>
          <a:xfrm>
            <a:off x="5211766" y="2339478"/>
            <a:ext cx="0" cy="652888"/>
          </a:xfrm>
          <a:prstGeom prst="straightConnector1">
            <a:avLst/>
          </a:prstGeom>
          <a:ln w="38100">
            <a:solidFill>
              <a:schemeClr val="accent1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E53C3C4B-75A0-6B66-AC96-B06DAD69377D}"/>
              </a:ext>
            </a:extLst>
          </p:cNvPr>
          <p:cNvCxnSpPr/>
          <p:nvPr/>
        </p:nvCxnSpPr>
        <p:spPr>
          <a:xfrm flipH="1">
            <a:off x="5247961" y="4194948"/>
            <a:ext cx="5080" cy="467995"/>
          </a:xfrm>
          <a:prstGeom prst="straightConnector1">
            <a:avLst/>
          </a:prstGeom>
          <a:ln w="38100">
            <a:solidFill>
              <a:schemeClr val="accent1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EB241FDE-6BF9-FA27-8558-59323B821B71}"/>
              </a:ext>
            </a:extLst>
          </p:cNvPr>
          <p:cNvSpPr txBox="1"/>
          <p:nvPr/>
        </p:nvSpPr>
        <p:spPr>
          <a:xfrm>
            <a:off x="265430" y="118110"/>
            <a:ext cx="1170876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b="1" dirty="0"/>
              <a:t>Workflow1. Subfamily Classification: Data Preparation, Annotation, and Domain Extraction</a:t>
            </a:r>
          </a:p>
        </p:txBody>
      </p: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69644C0A-863D-EA2B-E0F7-8B4C27A36C8A}"/>
              </a:ext>
            </a:extLst>
          </p:cNvPr>
          <p:cNvCxnSpPr/>
          <p:nvPr/>
        </p:nvCxnSpPr>
        <p:spPr>
          <a:xfrm flipH="1">
            <a:off x="5253041" y="5541783"/>
            <a:ext cx="5080" cy="467995"/>
          </a:xfrm>
          <a:prstGeom prst="straightConnector1">
            <a:avLst/>
          </a:prstGeom>
          <a:ln w="38100">
            <a:solidFill>
              <a:schemeClr val="accent1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F50A1A82-DC6C-D53D-DF3C-8A403DC8C463}"/>
              </a:ext>
            </a:extLst>
          </p:cNvPr>
          <p:cNvSpPr txBox="1"/>
          <p:nvPr/>
        </p:nvSpPr>
        <p:spPr>
          <a:xfrm>
            <a:off x="4008120" y="6107430"/>
            <a:ext cx="2670175" cy="38481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/>
            <a:r>
              <a:rPr lang="zh-CN" altLang="en-US" sz="2000" b="1" i="0">
                <a:highlight>
                  <a:srgbClr val="FFFF00"/>
                </a:highlight>
              </a:rPr>
              <a:t>subfamily classification</a:t>
            </a:r>
            <a:endParaRPr lang="zh-CN" altLang="en-US" sz="2000" b="1" i="0">
              <a:solidFill>
                <a:srgbClr val="2E2E2E"/>
              </a:solidFill>
              <a:highlight>
                <a:srgbClr val="FFFF00"/>
              </a:highlight>
              <a:latin typeface="Elsevier Sans"/>
              <a:ea typeface="Elsevier Sans"/>
            </a:endParaRPr>
          </a:p>
        </p:txBody>
      </p:sp>
    </p:spTree>
    <p:extLst>
      <p:ext uri="{BB962C8B-B14F-4D97-AF65-F5344CB8AC3E}">
        <p14:creationId xmlns:p14="http://schemas.microsoft.com/office/powerpoint/2010/main" val="1862524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3CE54-D229-2E9D-10BD-DD5FE3A5B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B434454B-8693-CCA2-2504-001CE7287EF7}"/>
              </a:ext>
            </a:extLst>
          </p:cNvPr>
          <p:cNvGraphicFramePr/>
          <p:nvPr>
            <p:custDataLst>
              <p:tags r:id="rId1"/>
            </p:custDataLst>
          </p:nvPr>
        </p:nvGraphicFramePr>
        <p:xfrm>
          <a:off x="515620" y="768350"/>
          <a:ext cx="11079480" cy="3521075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51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1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8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Method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/>
                        <a:t>Phylogenetic Trees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/>
                        <a:t>Sequence Similarity Networks (SSNs)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/>
                        <a:t>Purpose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/>
                        <a:t>Shows evolutionary relationships between sequences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/>
                        <a:t>Visualizes sequence similarity within protein families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69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/>
                        <a:t>Visualization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/>
                        <a:t>Complex, hierarchical structure; can be hard to interpret for large datasets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/>
                        <a:t>Nodes (proteins) connected by edges based on similarity; easy overview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/>
                        <a:t> Alignment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/>
                        <a:t>multiple sequence alignment (MSA)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/>
                        <a:t>pairwise sequence similarity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/>
                        <a:t>Scalability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/>
                        <a:t>Computationally intensive; challenging for large datasets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/>
                        <a:t>Computationally efficient; scales well with dataset size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/>
                        <a:t>Best For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/>
                        <a:t>Detailed evolutionary insights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/>
                        <a:t>Quick functional clustering and relationship overview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8" name="图片 7">
            <a:extLst>
              <a:ext uri="{FF2B5EF4-FFF2-40B4-BE49-F238E27FC236}">
                <a16:creationId xmlns:a16="http://schemas.microsoft.com/office/drawing/2014/main" id="{666C1B6A-71D3-D7B0-A6BA-01CFBE6D728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06" r="59755"/>
          <a:stretch>
            <a:fillRect/>
          </a:stretch>
        </p:blipFill>
        <p:spPr>
          <a:xfrm>
            <a:off x="6931025" y="4369435"/>
            <a:ext cx="1538605" cy="222694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6785D27-97FD-D025-8355-6BF05BC987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0190" y="4474845"/>
            <a:ext cx="2003425" cy="216471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E3C9F1D-3960-3B74-090E-CAD88E490E8E}"/>
              </a:ext>
            </a:extLst>
          </p:cNvPr>
          <p:cNvSpPr txBox="1"/>
          <p:nvPr/>
        </p:nvSpPr>
        <p:spPr>
          <a:xfrm>
            <a:off x="6931025" y="6477317"/>
            <a:ext cx="5080000" cy="36830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/>
            <a:r>
              <a:rPr lang="en-US" altLang="zh-CN" sz="1800" b="0" i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https://doi.org/10.1016/j.bbapap.2015.04.015</a:t>
            </a:r>
            <a:endParaRPr lang="en-US" altLang="zh-CN" sz="1600" b="0" i="0">
              <a:solidFill>
                <a:srgbClr val="1B1B1B"/>
              </a:solidFill>
              <a:latin typeface="Roboto Mono Web"/>
              <a:ea typeface="Roboto Mono Web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C7EECDB-62E3-1EF5-3249-CDB9B7D35061}"/>
              </a:ext>
            </a:extLst>
          </p:cNvPr>
          <p:cNvSpPr txBox="1"/>
          <p:nvPr/>
        </p:nvSpPr>
        <p:spPr>
          <a:xfrm>
            <a:off x="378460" y="123190"/>
            <a:ext cx="118135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3600" b="1">
                <a:cs typeface="+mn-lt"/>
                <a:sym typeface="+mn-ea"/>
              </a:rPr>
              <a:t>Classification Method Introduction: </a:t>
            </a:r>
            <a:endParaRPr lang="en-US" altLang="zh-CN" sz="2800" b="1">
              <a:cs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021D023-450E-7EC6-A8C3-B607DB36BC9E}"/>
              </a:ext>
            </a:extLst>
          </p:cNvPr>
          <p:cNvSpPr txBox="1"/>
          <p:nvPr/>
        </p:nvSpPr>
        <p:spPr>
          <a:xfrm>
            <a:off x="515620" y="4723765"/>
            <a:ext cx="614299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000" b="1" dirty="0"/>
              <a:t>Scalability Challenge:</a:t>
            </a:r>
            <a:r>
              <a:rPr lang="en-US" altLang="zh-CN" sz="2000" dirty="0"/>
              <a:t> As the </a:t>
            </a:r>
            <a:r>
              <a:rPr lang="en-US" altLang="zh-CN" sz="2000" dirty="0" err="1"/>
              <a:t>CAZy</a:t>
            </a:r>
            <a:r>
              <a:rPr lang="en-US" altLang="zh-CN" sz="2000" dirty="0"/>
              <a:t> database expands, it will be increasingly difficult to generate accurate subfamily phylogenies for most families.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07968B0-24FB-76A9-8AD3-A3F3AF993125}"/>
              </a:ext>
            </a:extLst>
          </p:cNvPr>
          <p:cNvSpPr txBox="1"/>
          <p:nvPr/>
        </p:nvSpPr>
        <p:spPr>
          <a:xfrm>
            <a:off x="1016000" y="6400483"/>
            <a:ext cx="5080000" cy="36830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algn="l">
              <a:buClrTx/>
              <a:buSzTx/>
              <a:buFontTx/>
            </a:pPr>
            <a:r>
              <a:rPr lang="en-US" altLang="zh-CN" sz="1800" b="0" i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https://doi.org/10.1074/jbc.RA119.010619</a:t>
            </a:r>
          </a:p>
        </p:txBody>
      </p:sp>
    </p:spTree>
    <p:extLst>
      <p:ext uri="{BB962C8B-B14F-4D97-AF65-F5344CB8AC3E}">
        <p14:creationId xmlns:p14="http://schemas.microsoft.com/office/powerpoint/2010/main" val="4059492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AF2A6-ACA4-9C4D-9403-87A10CD9D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9FDEFC9-D533-A103-C026-138B6A225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065" y="877570"/>
            <a:ext cx="6224905" cy="273748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2AFF6B5-4D05-E15E-78DC-76DB5BAD4530}"/>
              </a:ext>
            </a:extLst>
          </p:cNvPr>
          <p:cNvSpPr txBox="1"/>
          <p:nvPr/>
        </p:nvSpPr>
        <p:spPr>
          <a:xfrm>
            <a:off x="378460" y="123190"/>
            <a:ext cx="118135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3600" b="1">
                <a:cs typeface="+mn-lt"/>
                <a:sym typeface="+mn-ea"/>
              </a:rPr>
              <a:t>Classification Method Introduction: </a:t>
            </a:r>
            <a:endParaRPr lang="en-US" altLang="zh-CN" sz="2800" b="1">
              <a:cs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87421A-A456-B7BA-AB63-16A4EB89D448}"/>
              </a:ext>
            </a:extLst>
          </p:cNvPr>
          <p:cNvSpPr txBox="1"/>
          <p:nvPr/>
        </p:nvSpPr>
        <p:spPr>
          <a:xfrm>
            <a:off x="6962775" y="1039812"/>
            <a:ext cx="5080000" cy="132207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 i="0"/>
              <a:t>15 sequences to be classified into subfamilies illustrates the relationships between distinct representation and analysis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78A52C2-8507-3D42-C3FA-7BB730A4E926}"/>
              </a:ext>
            </a:extLst>
          </p:cNvPr>
          <p:cNvSpPr txBox="1"/>
          <p:nvPr/>
        </p:nvSpPr>
        <p:spPr>
          <a:xfrm>
            <a:off x="6962775" y="2361565"/>
            <a:ext cx="456438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/>
              <a:t>Number 1–4 indicate four hypothetical subfamily classifications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62A816-5B6A-6BAD-E41B-EC304C70D29C}"/>
              </a:ext>
            </a:extLst>
          </p:cNvPr>
          <p:cNvSpPr txBox="1"/>
          <p:nvPr/>
        </p:nvSpPr>
        <p:spPr>
          <a:xfrm>
            <a:off x="378460" y="3813175"/>
            <a:ext cx="111493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A</a:t>
            </a:r>
            <a:r>
              <a:rPr lang="en-US" altLang="zh-CN" b="1"/>
              <a:t>. E</a:t>
            </a:r>
            <a:r>
              <a:rPr lang="zh-CN" altLang="en-US" b="1"/>
              <a:t>volutionary tree</a:t>
            </a:r>
            <a:r>
              <a:rPr lang="en-US" altLang="zh-CN" b="1"/>
              <a:t>:</a:t>
            </a:r>
            <a:r>
              <a:rPr lang="en-US" altLang="zh-CN"/>
              <a:t> Subfamily delineation consists of drawing a vertical line (below numbers 1–4) and making a family for each outcoming branch.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2253AB7-A4BF-83AF-D579-71F0B49694E0}"/>
              </a:ext>
            </a:extLst>
          </p:cNvPr>
          <p:cNvSpPr txBox="1"/>
          <p:nvPr/>
        </p:nvSpPr>
        <p:spPr>
          <a:xfrm>
            <a:off x="378460" y="4458335"/>
            <a:ext cx="11436350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/>
            <a:r>
              <a:rPr lang="en-US" altLang="zh-CN" sz="1800" b="1" i="0"/>
              <a:t>B. SSN connection graph:</a:t>
            </a:r>
            <a:r>
              <a:rPr lang="en-US" altLang="zh-CN" sz="1800" i="0"/>
              <a:t> SSNs with sequences represented as nodes (</a:t>
            </a:r>
            <a:r>
              <a:rPr lang="en-US" altLang="zh-CN" sz="1800"/>
              <a:t>circles</a:t>
            </a:r>
            <a:r>
              <a:rPr lang="en-US" altLang="zh-CN" sz="1800" i="0"/>
              <a:t>) and all pairwise sequence relationships (alignments) above a defined </a:t>
            </a:r>
            <a:r>
              <a:rPr lang="en-US" altLang="zh-CN" sz="1800"/>
              <a:t>E</a:t>
            </a:r>
            <a:r>
              <a:rPr lang="en-US" altLang="zh-CN" sz="1800" i="0"/>
              <a:t>-value threshold indicated with edges (</a:t>
            </a:r>
            <a:r>
              <a:rPr lang="en-US" altLang="zh-CN" sz="1800"/>
              <a:t>lines</a:t>
            </a:r>
            <a:r>
              <a:rPr lang="en-US" altLang="zh-CN" sz="1800" i="0"/>
              <a:t>). </a:t>
            </a:r>
          </a:p>
          <a:p>
            <a:pPr marL="0" indent="0" algn="l"/>
            <a:r>
              <a:rPr lang="en-US" altLang="zh-CN" sz="1800" i="0"/>
              <a:t>At increased thresholds (</a:t>
            </a:r>
            <a:r>
              <a:rPr lang="en-US" altLang="zh-CN" sz="1800"/>
              <a:t>numbers 1–4</a:t>
            </a:r>
            <a:r>
              <a:rPr lang="en-US" altLang="zh-CN" sz="1800" i="0"/>
              <a:t>), the connected components break up into an increasing number of subcomponents, representing putative subfamily delineations.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CA71243-C07F-1914-D15F-AC083706FDC3}"/>
              </a:ext>
            </a:extLst>
          </p:cNvPr>
          <p:cNvSpPr txBox="1"/>
          <p:nvPr/>
        </p:nvSpPr>
        <p:spPr>
          <a:xfrm>
            <a:off x="378460" y="5657215"/>
            <a:ext cx="115639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C. SSN tabular summary: </a:t>
            </a:r>
            <a:r>
              <a:rPr lang="zh-CN" altLang="en-US"/>
              <a:t>Each column (numbers 1–4 for each E-value threshold, separated by a vertical dashed line) depicts a distinct subfamilization and displays the number of clusters/subfamilies as colored boxes and the number of members/sequences in each cluster/subfamily.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8BAA321-6DA9-CB9D-5388-D0B1594020DB}"/>
              </a:ext>
            </a:extLst>
          </p:cNvPr>
          <p:cNvSpPr txBox="1"/>
          <p:nvPr/>
        </p:nvSpPr>
        <p:spPr>
          <a:xfrm>
            <a:off x="6862445" y="6400483"/>
            <a:ext cx="5080000" cy="36830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algn="l">
              <a:buClrTx/>
              <a:buSzTx/>
              <a:buFontTx/>
            </a:pPr>
            <a:r>
              <a:rPr lang="en-US" altLang="zh-CN" sz="1800" b="0" i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https://doi.org/10.1074/jbc.RA119.010619</a:t>
            </a:r>
          </a:p>
        </p:txBody>
      </p:sp>
    </p:spTree>
    <p:extLst>
      <p:ext uri="{BB962C8B-B14F-4D97-AF65-F5344CB8AC3E}">
        <p14:creationId xmlns:p14="http://schemas.microsoft.com/office/powerpoint/2010/main" val="863052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059AC-0D00-AEEC-E605-00ADF1BE7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9">
            <a:extLst>
              <a:ext uri="{FF2B5EF4-FFF2-40B4-BE49-F238E27FC236}">
                <a16:creationId xmlns:a16="http://schemas.microsoft.com/office/drawing/2014/main" id="{05425512-B51D-69F3-3EF7-42F0EBD3F2E4}"/>
              </a:ext>
            </a:extLst>
          </p:cNvPr>
          <p:cNvSpPr txBox="1"/>
          <p:nvPr/>
        </p:nvSpPr>
        <p:spPr>
          <a:xfrm>
            <a:off x="6348730" y="1892935"/>
            <a:ext cx="5727700" cy="3914140"/>
          </a:xfrm>
          <a:prstGeom prst="rect">
            <a:avLst/>
          </a:prstGeom>
          <a:noFill/>
          <a:ln w="38100">
            <a:solidFill>
              <a:schemeClr val="bg1">
                <a:lumMod val="65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</p:txBody>
      </p:sp>
      <p:sp>
        <p:nvSpPr>
          <p:cNvPr id="70" name="TextBox 9">
            <a:extLst>
              <a:ext uri="{FF2B5EF4-FFF2-40B4-BE49-F238E27FC236}">
                <a16:creationId xmlns:a16="http://schemas.microsoft.com/office/drawing/2014/main" id="{5411E5B7-5430-0893-0FED-1674B682074A}"/>
              </a:ext>
            </a:extLst>
          </p:cNvPr>
          <p:cNvSpPr txBox="1"/>
          <p:nvPr/>
        </p:nvSpPr>
        <p:spPr>
          <a:xfrm>
            <a:off x="403860" y="1892935"/>
            <a:ext cx="5692775" cy="3914140"/>
          </a:xfrm>
          <a:prstGeom prst="rect">
            <a:avLst/>
          </a:prstGeom>
          <a:noFill/>
          <a:ln w="38100">
            <a:solidFill>
              <a:schemeClr val="bg1">
                <a:lumMod val="65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20000"/>
                    <a:lumOff val="80000"/>
                  </a:schemeClr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5099DD59-2839-789E-7941-AA1955C2FD08}"/>
              </a:ext>
            </a:extLst>
          </p:cNvPr>
          <p:cNvSpPr txBox="1"/>
          <p:nvPr/>
        </p:nvSpPr>
        <p:spPr>
          <a:xfrm>
            <a:off x="548005" y="313690"/>
            <a:ext cx="117087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b="1" dirty="0"/>
              <a:t>Workflow2. Subfamily Classification Using SSNs and Phylogenetic Analysis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1BB768C3-D7CE-A98E-4795-1EE9F776E2BD}"/>
              </a:ext>
            </a:extLst>
          </p:cNvPr>
          <p:cNvSpPr txBox="1"/>
          <p:nvPr/>
        </p:nvSpPr>
        <p:spPr>
          <a:xfrm>
            <a:off x="4621530" y="1071245"/>
            <a:ext cx="3443605" cy="324485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/>
            <a:r>
              <a:rPr lang="en-US" altLang="zh-CN" sz="2400" b="1" i="0"/>
              <a:t>S</a:t>
            </a:r>
            <a:r>
              <a:rPr lang="zh-CN" altLang="en-US" sz="2400" b="1" i="0"/>
              <a:t>ubfamily </a:t>
            </a:r>
            <a:r>
              <a:rPr lang="en-US" altLang="zh-CN" sz="2400" b="1" i="0"/>
              <a:t>C</a:t>
            </a:r>
            <a:r>
              <a:rPr lang="zh-CN" altLang="en-US" sz="2400" b="1" i="0"/>
              <a:t>lassification</a:t>
            </a:r>
            <a:endParaRPr lang="zh-CN" altLang="en-US" sz="2400" b="1" i="0">
              <a:solidFill>
                <a:srgbClr val="2E2E2E"/>
              </a:solidFill>
              <a:latin typeface="Elsevier Sans"/>
              <a:ea typeface="Elsevier Sans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1D5359D-CFC5-B954-869A-9EE566F5BA1D}"/>
              </a:ext>
            </a:extLst>
          </p:cNvPr>
          <p:cNvSpPr txBox="1"/>
          <p:nvPr/>
        </p:nvSpPr>
        <p:spPr>
          <a:xfrm>
            <a:off x="692785" y="1893570"/>
            <a:ext cx="52609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2000" b="1"/>
              <a:t>Sequence Similarity Networks (SSNs) Creation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D605056-2616-93F0-3D78-C00B55E3A679}"/>
              </a:ext>
            </a:extLst>
          </p:cNvPr>
          <p:cNvSpPr txBox="1"/>
          <p:nvPr/>
        </p:nvSpPr>
        <p:spPr>
          <a:xfrm>
            <a:off x="6982460" y="1891665"/>
            <a:ext cx="41732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2000" b="1" dirty="0"/>
              <a:t>Phylogenetic Analysis</a:t>
            </a:r>
            <a:endParaRPr lang="zh-CN" altLang="en-US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2F514207-2E2C-A7F0-97B8-04178341B5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785" y="2644140"/>
            <a:ext cx="1362710" cy="504190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FDB95868-D739-3605-A5CD-45F9DEFF94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005" y="4856480"/>
            <a:ext cx="1651635" cy="383540"/>
          </a:xfrm>
          <a:prstGeom prst="rect">
            <a:avLst/>
          </a:prstGeom>
        </p:spPr>
      </p:pic>
      <p:grpSp>
        <p:nvGrpSpPr>
          <p:cNvPr id="36" name="组合 35">
            <a:extLst>
              <a:ext uri="{FF2B5EF4-FFF2-40B4-BE49-F238E27FC236}">
                <a16:creationId xmlns:a16="http://schemas.microsoft.com/office/drawing/2014/main" id="{D91263B4-2318-FBE9-9754-CED07AC6DEE0}"/>
              </a:ext>
            </a:extLst>
          </p:cNvPr>
          <p:cNvGrpSpPr/>
          <p:nvPr/>
        </p:nvGrpSpPr>
        <p:grpSpPr>
          <a:xfrm>
            <a:off x="1951990" y="4853305"/>
            <a:ext cx="3766820" cy="482600"/>
            <a:chOff x="3269" y="7290"/>
            <a:chExt cx="5932" cy="760"/>
          </a:xfrm>
        </p:grpSpPr>
        <p:sp>
          <p:nvSpPr>
            <p:cNvPr id="29" name="TextBox 9">
              <a:extLst>
                <a:ext uri="{FF2B5EF4-FFF2-40B4-BE49-F238E27FC236}">
                  <a16:creationId xmlns:a16="http://schemas.microsoft.com/office/drawing/2014/main" id="{7CE04F16-3D54-28FF-26D7-D2545C6749BD}"/>
                </a:ext>
              </a:extLst>
            </p:cNvPr>
            <p:cNvSpPr txBox="1"/>
            <p:nvPr/>
          </p:nvSpPr>
          <p:spPr>
            <a:xfrm>
              <a:off x="3835" y="7290"/>
              <a:ext cx="4800" cy="76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bg1">
                  <a:lumMod val="65000"/>
                </a:schemeClr>
              </a:solidFill>
              <a:prstDash val="dash"/>
            </a:ln>
          </p:spPr>
          <p:txBody>
            <a:bodyPr wrap="square" rtlCol="0">
              <a:noAutofit/>
            </a:bodyPr>
            <a:lstStyle/>
            <a:p>
              <a:pPr algn="ctr"/>
              <a:endParaRPr lang="en-US" b="1" dirty="0"/>
            </a:p>
            <a:p>
              <a:pPr algn="ctr"/>
              <a:endParaRPr lang="en-US" b="1" dirty="0"/>
            </a:p>
            <a:p>
              <a:pPr algn="ctr"/>
              <a:endParaRPr lang="en-US" b="1" dirty="0"/>
            </a:p>
            <a:p>
              <a:pPr algn="ctr"/>
              <a:endParaRPr lang="en-US" b="1" dirty="0"/>
            </a:p>
            <a:p>
              <a:pPr algn="ctr"/>
              <a:endParaRPr lang="en-US" b="1" dirty="0"/>
            </a:p>
            <a:p>
              <a:pPr algn="ctr"/>
              <a:endParaRPr lang="en-US" b="1" dirty="0"/>
            </a:p>
            <a:p>
              <a:pPr algn="ctr"/>
              <a:endParaRPr lang="en-US" b="1" dirty="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C1528583-8C20-DBBC-715A-F974E1EA633E}"/>
                </a:ext>
              </a:extLst>
            </p:cNvPr>
            <p:cNvSpPr txBox="1"/>
            <p:nvPr/>
          </p:nvSpPr>
          <p:spPr>
            <a:xfrm>
              <a:off x="3269" y="7425"/>
              <a:ext cx="5932" cy="271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ctr">
                <a:buClrTx/>
                <a:buSzTx/>
                <a:buFontTx/>
              </a:pPr>
              <a:r>
                <a:rPr lang="zh-CN" altLang="en-US" b="1">
                  <a:sym typeface="+mn-ea"/>
                </a:rPr>
                <a:t>Visualize networks</a:t>
              </a: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A07FA14A-BBEC-C042-28C5-9BD89066FAE3}"/>
              </a:ext>
            </a:extLst>
          </p:cNvPr>
          <p:cNvGrpSpPr/>
          <p:nvPr/>
        </p:nvGrpSpPr>
        <p:grpSpPr>
          <a:xfrm>
            <a:off x="1727200" y="2855595"/>
            <a:ext cx="4115435" cy="483235"/>
            <a:chOff x="2994" y="3855"/>
            <a:chExt cx="6481" cy="761"/>
          </a:xfrm>
        </p:grpSpPr>
        <p:sp>
          <p:nvSpPr>
            <p:cNvPr id="23" name="TextBox 9">
              <a:extLst>
                <a:ext uri="{FF2B5EF4-FFF2-40B4-BE49-F238E27FC236}">
                  <a16:creationId xmlns:a16="http://schemas.microsoft.com/office/drawing/2014/main" id="{59931133-13CE-3450-7725-28A5BFF2391E}"/>
                </a:ext>
              </a:extLst>
            </p:cNvPr>
            <p:cNvSpPr txBox="1"/>
            <p:nvPr/>
          </p:nvSpPr>
          <p:spPr>
            <a:xfrm>
              <a:off x="3835" y="3855"/>
              <a:ext cx="4800" cy="76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bg1">
                  <a:lumMod val="65000"/>
                </a:schemeClr>
              </a:solidFill>
              <a:prstDash val="dash"/>
            </a:ln>
          </p:spPr>
          <p:txBody>
            <a:bodyPr wrap="square" rtlCol="0">
              <a:noAutofit/>
            </a:bodyPr>
            <a:lstStyle/>
            <a:p>
              <a:pPr algn="ctr"/>
              <a:endParaRPr lang="en-US" b="1" dirty="0"/>
            </a:p>
            <a:p>
              <a:pPr algn="ctr"/>
              <a:endParaRPr lang="en-US" b="1" dirty="0"/>
            </a:p>
            <a:p>
              <a:pPr algn="ctr"/>
              <a:endParaRPr lang="en-US" b="1" dirty="0"/>
            </a:p>
            <a:p>
              <a:pPr algn="ctr"/>
              <a:endParaRPr lang="en-US" b="1" dirty="0"/>
            </a:p>
            <a:p>
              <a:pPr algn="ctr"/>
              <a:endParaRPr lang="en-US" b="1" dirty="0"/>
            </a:p>
            <a:p>
              <a:pPr algn="ctr"/>
              <a:endParaRPr lang="en-US" b="1" dirty="0"/>
            </a:p>
            <a:p>
              <a:pPr algn="ctr"/>
              <a:endParaRPr lang="en-US" b="1" dirty="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5E4BA7AC-2CB9-7F11-B265-07F3353DBE8B}"/>
                </a:ext>
              </a:extLst>
            </p:cNvPr>
            <p:cNvSpPr txBox="1"/>
            <p:nvPr/>
          </p:nvSpPr>
          <p:spPr>
            <a:xfrm>
              <a:off x="2994" y="3889"/>
              <a:ext cx="6481" cy="427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ctr">
                <a:buClrTx/>
                <a:buSzTx/>
                <a:buFontTx/>
              </a:pPr>
              <a:r>
                <a:rPr lang="zh-CN" altLang="en-US" b="1">
                  <a:sym typeface="+mn-ea"/>
                </a:rPr>
                <a:t>Perform pairwise alignments</a:t>
              </a: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82C57627-FE55-E85B-3B8A-901FA5DB7457}"/>
              </a:ext>
            </a:extLst>
          </p:cNvPr>
          <p:cNvGrpSpPr/>
          <p:nvPr/>
        </p:nvGrpSpPr>
        <p:grpSpPr>
          <a:xfrm>
            <a:off x="2311400" y="3799840"/>
            <a:ext cx="2946400" cy="487045"/>
            <a:chOff x="4035" y="5349"/>
            <a:chExt cx="4800" cy="760"/>
          </a:xfrm>
        </p:grpSpPr>
        <p:sp>
          <p:nvSpPr>
            <p:cNvPr id="28" name="TextBox 9">
              <a:extLst>
                <a:ext uri="{FF2B5EF4-FFF2-40B4-BE49-F238E27FC236}">
                  <a16:creationId xmlns:a16="http://schemas.microsoft.com/office/drawing/2014/main" id="{09B25D26-03F7-F1C4-EADE-2E26B15ED35F}"/>
                </a:ext>
              </a:extLst>
            </p:cNvPr>
            <p:cNvSpPr txBox="1"/>
            <p:nvPr/>
          </p:nvSpPr>
          <p:spPr>
            <a:xfrm>
              <a:off x="4035" y="5349"/>
              <a:ext cx="4800" cy="76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bg1">
                  <a:lumMod val="65000"/>
                </a:schemeClr>
              </a:solidFill>
              <a:prstDash val="dash"/>
            </a:ln>
          </p:spPr>
          <p:txBody>
            <a:bodyPr wrap="square" rtlCol="0">
              <a:noAutofit/>
            </a:bodyPr>
            <a:lstStyle/>
            <a:p>
              <a:pPr algn="ctr"/>
              <a:endParaRPr lang="en-US" b="1" dirty="0"/>
            </a:p>
            <a:p>
              <a:pPr algn="ctr"/>
              <a:endParaRPr lang="en-US" b="1" dirty="0"/>
            </a:p>
            <a:p>
              <a:pPr algn="ctr"/>
              <a:endParaRPr lang="en-US" b="1" dirty="0"/>
            </a:p>
            <a:p>
              <a:pPr algn="ctr"/>
              <a:endParaRPr lang="en-US" b="1" dirty="0"/>
            </a:p>
            <a:p>
              <a:pPr algn="ctr"/>
              <a:endParaRPr lang="en-US" b="1" dirty="0"/>
            </a:p>
            <a:p>
              <a:pPr algn="ctr"/>
              <a:endParaRPr lang="en-US" b="1" dirty="0"/>
            </a:p>
            <a:p>
              <a:pPr algn="ctr"/>
              <a:endParaRPr lang="en-US" b="1" dirty="0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5BBA4C76-C60A-1044-7F05-14B3AE9B8A6B}"/>
                </a:ext>
              </a:extLst>
            </p:cNvPr>
            <p:cNvSpPr txBox="1"/>
            <p:nvPr/>
          </p:nvSpPr>
          <p:spPr>
            <a:xfrm>
              <a:off x="4035" y="5400"/>
              <a:ext cx="4800" cy="410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ctr">
                <a:buClrTx/>
                <a:buSzTx/>
                <a:buFontTx/>
              </a:pPr>
              <a:r>
                <a:rPr lang="zh-CN" altLang="en-US" b="1" dirty="0">
                  <a:sym typeface="+mn-ea"/>
                </a:rPr>
                <a:t>Apply E-value filtering</a:t>
              </a:r>
            </a:p>
          </p:txBody>
        </p:sp>
      </p:grp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D090387A-9CD0-8295-0476-2FC050BDB013}"/>
              </a:ext>
            </a:extLst>
          </p:cNvPr>
          <p:cNvCxnSpPr/>
          <p:nvPr/>
        </p:nvCxnSpPr>
        <p:spPr>
          <a:xfrm flipH="1">
            <a:off x="3782381" y="3338968"/>
            <a:ext cx="5080" cy="467995"/>
          </a:xfrm>
          <a:prstGeom prst="straightConnector1">
            <a:avLst/>
          </a:prstGeom>
          <a:ln w="38100">
            <a:solidFill>
              <a:schemeClr val="accent1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02B7F862-93EC-71CE-826B-AF9D9352666A}"/>
              </a:ext>
            </a:extLst>
          </p:cNvPr>
          <p:cNvCxnSpPr/>
          <p:nvPr/>
        </p:nvCxnSpPr>
        <p:spPr>
          <a:xfrm flipH="1">
            <a:off x="3792541" y="4336553"/>
            <a:ext cx="5080" cy="467995"/>
          </a:xfrm>
          <a:prstGeom prst="straightConnector1">
            <a:avLst/>
          </a:prstGeom>
          <a:ln w="38100">
            <a:solidFill>
              <a:schemeClr val="accent1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2" name="图片 41">
            <a:extLst>
              <a:ext uri="{FF2B5EF4-FFF2-40B4-BE49-F238E27FC236}">
                <a16:creationId xmlns:a16="http://schemas.microsoft.com/office/drawing/2014/main" id="{A5FA4637-10DB-DB09-C2EF-76056C9E609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57764" b="2174"/>
          <a:stretch>
            <a:fillRect/>
          </a:stretch>
        </p:blipFill>
        <p:spPr>
          <a:xfrm>
            <a:off x="10114915" y="2615565"/>
            <a:ext cx="1837690" cy="514350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FACCF9B5-52E6-956F-A83D-08B1907D0ED8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10423525" y="3621405"/>
            <a:ext cx="732155" cy="555625"/>
          </a:xfrm>
          <a:prstGeom prst="rect">
            <a:avLst/>
          </a:prstGeom>
        </p:spPr>
      </p:pic>
      <p:pic>
        <p:nvPicPr>
          <p:cNvPr id="50" name="图片 49">
            <a:extLst>
              <a:ext uri="{FF2B5EF4-FFF2-40B4-BE49-F238E27FC236}">
                <a16:creationId xmlns:a16="http://schemas.microsoft.com/office/drawing/2014/main" id="{D919F80A-B205-DA45-5EA0-60CC3042E9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21925" y="4856480"/>
            <a:ext cx="1630680" cy="289560"/>
          </a:xfrm>
          <a:prstGeom prst="rect">
            <a:avLst/>
          </a:prstGeom>
        </p:spPr>
      </p:pic>
      <p:grpSp>
        <p:nvGrpSpPr>
          <p:cNvPr id="52" name="组合 51">
            <a:extLst>
              <a:ext uri="{FF2B5EF4-FFF2-40B4-BE49-F238E27FC236}">
                <a16:creationId xmlns:a16="http://schemas.microsoft.com/office/drawing/2014/main" id="{2795F1D3-05B7-E449-835E-F1700861E546}"/>
              </a:ext>
            </a:extLst>
          </p:cNvPr>
          <p:cNvGrpSpPr/>
          <p:nvPr/>
        </p:nvGrpSpPr>
        <p:grpSpPr>
          <a:xfrm>
            <a:off x="6437630" y="2855595"/>
            <a:ext cx="4115435" cy="483235"/>
            <a:chOff x="2994" y="3855"/>
            <a:chExt cx="6481" cy="761"/>
          </a:xfrm>
        </p:grpSpPr>
        <p:sp>
          <p:nvSpPr>
            <p:cNvPr id="53" name="TextBox 9">
              <a:extLst>
                <a:ext uri="{FF2B5EF4-FFF2-40B4-BE49-F238E27FC236}">
                  <a16:creationId xmlns:a16="http://schemas.microsoft.com/office/drawing/2014/main" id="{81A97319-4E77-BAD6-3E45-395C0A5AD12D}"/>
                </a:ext>
              </a:extLst>
            </p:cNvPr>
            <p:cNvSpPr txBox="1"/>
            <p:nvPr/>
          </p:nvSpPr>
          <p:spPr>
            <a:xfrm>
              <a:off x="3835" y="3855"/>
              <a:ext cx="4800" cy="76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bg1">
                  <a:lumMod val="65000"/>
                </a:schemeClr>
              </a:solidFill>
              <a:prstDash val="dash"/>
            </a:ln>
          </p:spPr>
          <p:txBody>
            <a:bodyPr wrap="square" rtlCol="0">
              <a:noAutofit/>
            </a:bodyPr>
            <a:lstStyle/>
            <a:p>
              <a:pPr algn="ctr"/>
              <a:endParaRPr lang="en-US" b="1" dirty="0"/>
            </a:p>
            <a:p>
              <a:pPr algn="ctr"/>
              <a:endParaRPr lang="en-US" b="1" dirty="0"/>
            </a:p>
            <a:p>
              <a:pPr algn="ctr"/>
              <a:endParaRPr lang="en-US" b="1" dirty="0"/>
            </a:p>
            <a:p>
              <a:pPr algn="ctr"/>
              <a:endParaRPr lang="en-US" b="1" dirty="0"/>
            </a:p>
            <a:p>
              <a:pPr algn="ctr"/>
              <a:endParaRPr lang="en-US" b="1" dirty="0"/>
            </a:p>
            <a:p>
              <a:pPr algn="ctr"/>
              <a:endParaRPr lang="en-US" b="1" dirty="0"/>
            </a:p>
            <a:p>
              <a:pPr algn="ctr"/>
              <a:endParaRPr lang="en-US" b="1" dirty="0"/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1E54C9F3-938A-50DE-E951-0D8910E7B672}"/>
                </a:ext>
              </a:extLst>
            </p:cNvPr>
            <p:cNvSpPr txBox="1"/>
            <p:nvPr/>
          </p:nvSpPr>
          <p:spPr>
            <a:xfrm>
              <a:off x="2994" y="3889"/>
              <a:ext cx="6481" cy="427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ctr">
                <a:buClrTx/>
                <a:buSzTx/>
                <a:buFontTx/>
              </a:pPr>
              <a:r>
                <a:rPr lang="zh-CN" altLang="en-US" b="1">
                  <a:sym typeface="+mn-ea"/>
                </a:rPr>
                <a:t>Multiple Sequence Alignment</a:t>
              </a:r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0C89F57C-64EE-0087-B5E6-A17671AAC211}"/>
              </a:ext>
            </a:extLst>
          </p:cNvPr>
          <p:cNvGrpSpPr/>
          <p:nvPr/>
        </p:nvGrpSpPr>
        <p:grpSpPr>
          <a:xfrm>
            <a:off x="6437630" y="3799840"/>
            <a:ext cx="4115435" cy="483235"/>
            <a:chOff x="2994" y="3855"/>
            <a:chExt cx="6481" cy="761"/>
          </a:xfrm>
        </p:grpSpPr>
        <p:sp>
          <p:nvSpPr>
            <p:cNvPr id="57" name="TextBox 9">
              <a:extLst>
                <a:ext uri="{FF2B5EF4-FFF2-40B4-BE49-F238E27FC236}">
                  <a16:creationId xmlns:a16="http://schemas.microsoft.com/office/drawing/2014/main" id="{A810F211-57F9-B1ED-81C8-9B8E1BB18B2E}"/>
                </a:ext>
              </a:extLst>
            </p:cNvPr>
            <p:cNvSpPr txBox="1"/>
            <p:nvPr/>
          </p:nvSpPr>
          <p:spPr>
            <a:xfrm>
              <a:off x="3835" y="3855"/>
              <a:ext cx="4800" cy="76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bg1">
                  <a:lumMod val="65000"/>
                </a:schemeClr>
              </a:solidFill>
              <a:prstDash val="dash"/>
            </a:ln>
          </p:spPr>
          <p:txBody>
            <a:bodyPr wrap="square" rtlCol="0">
              <a:noAutofit/>
            </a:bodyPr>
            <a:lstStyle/>
            <a:p>
              <a:pPr algn="ctr"/>
              <a:endParaRPr lang="en-US" b="1" dirty="0"/>
            </a:p>
            <a:p>
              <a:pPr algn="ctr"/>
              <a:endParaRPr lang="en-US" b="1" dirty="0"/>
            </a:p>
            <a:p>
              <a:pPr algn="ctr"/>
              <a:endParaRPr lang="en-US" b="1" dirty="0"/>
            </a:p>
            <a:p>
              <a:pPr algn="ctr"/>
              <a:endParaRPr lang="en-US" b="1" dirty="0"/>
            </a:p>
            <a:p>
              <a:pPr algn="ctr"/>
              <a:endParaRPr lang="en-US" b="1" dirty="0"/>
            </a:p>
            <a:p>
              <a:pPr algn="ctr"/>
              <a:endParaRPr lang="en-US" b="1" dirty="0"/>
            </a:p>
            <a:p>
              <a:pPr algn="ctr"/>
              <a:endParaRPr lang="en-US" b="1" dirty="0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CDB640C3-2DDB-4B57-AC21-9ACC2A214C0B}"/>
                </a:ext>
              </a:extLst>
            </p:cNvPr>
            <p:cNvSpPr txBox="1"/>
            <p:nvPr/>
          </p:nvSpPr>
          <p:spPr>
            <a:xfrm>
              <a:off x="2994" y="3889"/>
              <a:ext cx="6481" cy="427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ctr">
                <a:buClrTx/>
                <a:buSzTx/>
                <a:buFontTx/>
              </a:pPr>
              <a:r>
                <a:rPr lang="zh-CN" altLang="en-US" b="1" dirty="0">
                  <a:sym typeface="+mn-ea"/>
                </a:rPr>
                <a:t>Phylogenetic Tree Construction</a:t>
              </a: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5CCB8B01-6AE8-2395-24C5-BE507AFB67CF}"/>
              </a:ext>
            </a:extLst>
          </p:cNvPr>
          <p:cNvGrpSpPr/>
          <p:nvPr/>
        </p:nvGrpSpPr>
        <p:grpSpPr>
          <a:xfrm>
            <a:off x="6437630" y="4798695"/>
            <a:ext cx="4115435" cy="483235"/>
            <a:chOff x="2994" y="3855"/>
            <a:chExt cx="6481" cy="761"/>
          </a:xfrm>
        </p:grpSpPr>
        <p:sp>
          <p:nvSpPr>
            <p:cNvPr id="66" name="TextBox 9">
              <a:extLst>
                <a:ext uri="{FF2B5EF4-FFF2-40B4-BE49-F238E27FC236}">
                  <a16:creationId xmlns:a16="http://schemas.microsoft.com/office/drawing/2014/main" id="{DA31526C-9B96-2D8E-72E1-45EB49B75237}"/>
                </a:ext>
              </a:extLst>
            </p:cNvPr>
            <p:cNvSpPr txBox="1"/>
            <p:nvPr/>
          </p:nvSpPr>
          <p:spPr>
            <a:xfrm>
              <a:off x="3835" y="3855"/>
              <a:ext cx="4800" cy="76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bg1">
                  <a:lumMod val="65000"/>
                </a:schemeClr>
              </a:solidFill>
              <a:prstDash val="dash"/>
            </a:ln>
          </p:spPr>
          <p:txBody>
            <a:bodyPr wrap="square" rtlCol="0">
              <a:noAutofit/>
            </a:bodyPr>
            <a:lstStyle/>
            <a:p>
              <a:pPr algn="ctr"/>
              <a:endParaRPr lang="en-US" b="1" dirty="0"/>
            </a:p>
            <a:p>
              <a:pPr algn="ctr"/>
              <a:endParaRPr lang="en-US" b="1" dirty="0"/>
            </a:p>
            <a:p>
              <a:pPr algn="ctr"/>
              <a:endParaRPr lang="en-US" b="1" dirty="0"/>
            </a:p>
            <a:p>
              <a:pPr algn="ctr"/>
              <a:endParaRPr lang="en-US" b="1" dirty="0"/>
            </a:p>
            <a:p>
              <a:pPr algn="ctr"/>
              <a:endParaRPr lang="en-US" b="1" dirty="0"/>
            </a:p>
            <a:p>
              <a:pPr algn="ctr"/>
              <a:endParaRPr lang="en-US" b="1" dirty="0"/>
            </a:p>
            <a:p>
              <a:pPr algn="ctr"/>
              <a:endParaRPr lang="en-US" b="1" dirty="0"/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1A60C714-21BE-34FB-24D9-1822D076909F}"/>
                </a:ext>
              </a:extLst>
            </p:cNvPr>
            <p:cNvSpPr txBox="1"/>
            <p:nvPr/>
          </p:nvSpPr>
          <p:spPr>
            <a:xfrm>
              <a:off x="2994" y="3889"/>
              <a:ext cx="6481" cy="427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algn="ctr">
                <a:buClrTx/>
                <a:buSzTx/>
                <a:buFontTx/>
              </a:pPr>
              <a:r>
                <a:rPr lang="zh-CN" altLang="en-US" b="1">
                  <a:sym typeface="+mn-ea"/>
                </a:rPr>
                <a:t>Tree Visualization</a:t>
              </a:r>
            </a:p>
          </p:txBody>
        </p:sp>
      </p:grp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F7F6A7BD-4FB9-A159-5EBD-5B64DDEA6E1C}"/>
              </a:ext>
            </a:extLst>
          </p:cNvPr>
          <p:cNvCxnSpPr/>
          <p:nvPr/>
        </p:nvCxnSpPr>
        <p:spPr>
          <a:xfrm flipH="1">
            <a:off x="8492176" y="3346588"/>
            <a:ext cx="5080" cy="467995"/>
          </a:xfrm>
          <a:prstGeom prst="straightConnector1">
            <a:avLst/>
          </a:prstGeom>
          <a:ln w="38100">
            <a:solidFill>
              <a:schemeClr val="accent1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2D22230D-3908-1EA5-803E-8C1EBC0F8B2E}"/>
              </a:ext>
            </a:extLst>
          </p:cNvPr>
          <p:cNvCxnSpPr/>
          <p:nvPr/>
        </p:nvCxnSpPr>
        <p:spPr>
          <a:xfrm flipH="1">
            <a:off x="8487096" y="4306708"/>
            <a:ext cx="5080" cy="467995"/>
          </a:xfrm>
          <a:prstGeom prst="straightConnector1">
            <a:avLst/>
          </a:prstGeom>
          <a:ln w="38100">
            <a:solidFill>
              <a:schemeClr val="accent1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8769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529803"/>
            <a:ext cx="9144000" cy="1798394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73268" y="757555"/>
            <a:ext cx="11645463" cy="5509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28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Log in your swan OnDemand and download all data to the work folder.</a:t>
            </a:r>
          </a:p>
          <a:p>
            <a:endParaRPr kumimoji="1"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zh-CN" sz="1600" dirty="0"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endParaRPr kumimoji="1" lang="en-US" altLang="zh-CN" sz="2800" dirty="0"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endParaRPr kumimoji="1" lang="en-US" altLang="zh-CN" sz="2800" dirty="0"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endParaRPr kumimoji="1" lang="en-US" altLang="zh-CN" sz="2800" dirty="0"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endParaRPr kumimoji="1" lang="en-US" altLang="zh-CN" sz="2800" dirty="0"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28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For each part, we recommend to create a folder and named with “part_1”, “part_2” ...</a:t>
            </a:r>
          </a:p>
          <a:p>
            <a:pPr indent="0">
              <a:buFont typeface="Arial" panose="020B0604020202020204" pitchFamily="34" charset="0"/>
              <a:buNone/>
            </a:pPr>
            <a:endParaRPr lang="en-US" altLang="zh-CN" sz="2800" dirty="0"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endParaRPr kumimoji="1"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CN" sz="28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*Remember to do that and we won’t show it again in the next slides.</a:t>
            </a:r>
            <a:endParaRPr lang="en-US" altLang="zh-CN" sz="2800" dirty="0"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r>
              <a:rPr kumimoji="1" lang="en-US" altLang="zh-CN" sz="28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*NEVER forget which folder you are in and which you should be.</a:t>
            </a:r>
            <a:endParaRPr kumimoji="1"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96850" y="112395"/>
            <a:ext cx="11593830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1.1 - Create Project Folders and Clone Git Repository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29BCF1-4125-F05B-C7EB-A7CCBF73EDF8}"/>
              </a:ext>
            </a:extLst>
          </p:cNvPr>
          <p:cNvSpPr txBox="1"/>
          <p:nvPr/>
        </p:nvSpPr>
        <p:spPr>
          <a:xfrm>
            <a:off x="585217" y="2524937"/>
            <a:ext cx="106801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600" dirty="0">
                <a:latin typeface="Courier New" panose="02070309020205020404" pitchFamily="49" charset="0"/>
                <a:ea typeface="等线" panose="02010600030101010101" charset="-122"/>
                <a:cs typeface="Courier New" panose="02070309020205020404" pitchFamily="49" charset="0"/>
              </a:rPr>
              <a:t>git clone </a:t>
            </a:r>
            <a:r>
              <a:rPr kumimoji="1" lang="en-US" altLang="zh-CN" sz="1600" dirty="0">
                <a:latin typeface="Courier New" panose="02070309020205020404" pitchFamily="49" charset="0"/>
                <a:ea typeface="等线" panose="02010600030101010101" charset="-122"/>
                <a:cs typeface="Courier New" panose="02070309020205020404" pitchFamily="49" charset="0"/>
                <a:hlinkClick r:id="rId3"/>
              </a:rPr>
              <a:t>https://github.com/linluo60/course-project-1-Subfamily-classification-of-glycoside-hydrolase-family</a:t>
            </a:r>
            <a:endParaRPr kumimoji="1" lang="en-US" altLang="zh-CN" sz="1600" dirty="0">
              <a:latin typeface="Courier New" panose="02070309020205020404" pitchFamily="49" charset="0"/>
              <a:ea typeface="等线" panose="02010600030101010101" charset="-122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D9864F-A95B-3C3C-BC51-15F0F76A311C}"/>
              </a:ext>
            </a:extLst>
          </p:cNvPr>
          <p:cNvSpPr txBox="1"/>
          <p:nvPr/>
        </p:nvSpPr>
        <p:spPr>
          <a:xfrm>
            <a:off x="585216" y="138011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800" dirty="0">
                <a:latin typeface="Courier New" panose="02070309020205020404" pitchFamily="49" charset="0"/>
                <a:ea typeface="等线" panose="02010600030101010101" charset="-122"/>
                <a:cs typeface="Courier New" panose="02070309020205020404" pitchFamily="49" charset="0"/>
              </a:rPr>
              <a:t>cd /work/fdst396/</a:t>
            </a:r>
            <a:r>
              <a:rPr kumimoji="1" lang="en-US" altLang="zh-CN" sz="1800" dirty="0" err="1">
                <a:latin typeface="Courier New" panose="02070309020205020404" pitchFamily="49" charset="0"/>
                <a:ea typeface="等线" panose="02010600030101010101" charset="-122"/>
                <a:cs typeface="Courier New" panose="02070309020205020404" pitchFamily="49" charset="0"/>
              </a:rPr>
              <a:t>your_name</a:t>
            </a:r>
            <a:endParaRPr lang="en-US" altLang="zh-CN" sz="1800" dirty="0">
              <a:latin typeface="Courier New" panose="02070309020205020404" pitchFamily="49" charset="0"/>
              <a:ea typeface="等线" panose="02010600030101010101" charset="-122"/>
              <a:cs typeface="Courier New" panose="02070309020205020404" pitchFamily="49" charset="0"/>
            </a:endParaRPr>
          </a:p>
          <a:p>
            <a:r>
              <a:rPr kumimoji="1" lang="en-US" altLang="zh-CN" sz="1800" dirty="0" err="1">
                <a:latin typeface="Courier New" panose="02070309020205020404" pitchFamily="49" charset="0"/>
                <a:ea typeface="等线" panose="02010600030101010101" charset="-122"/>
                <a:cs typeface="Courier New" panose="02070309020205020404" pitchFamily="49" charset="0"/>
              </a:rPr>
              <a:t>mkdir</a:t>
            </a:r>
            <a:r>
              <a:rPr kumimoji="1" lang="en-US" altLang="zh-CN" sz="1800" dirty="0">
                <a:latin typeface="Courier New" panose="02070309020205020404" pitchFamily="49" charset="0"/>
                <a:ea typeface="等线" panose="02010600030101010101" charset="-122"/>
                <a:cs typeface="Courier New" panose="02070309020205020404" pitchFamily="49" charset="0"/>
              </a:rPr>
              <a:t> course_project_1</a:t>
            </a:r>
          </a:p>
          <a:p>
            <a:r>
              <a:rPr kumimoji="1" lang="en-US" altLang="zh-CN" sz="1800" dirty="0">
                <a:latin typeface="Courier New" panose="02070309020205020404" pitchFamily="49" charset="0"/>
                <a:ea typeface="等线" panose="02010600030101010101" charset="-122"/>
                <a:cs typeface="Courier New" panose="02070309020205020404" pitchFamily="49" charset="0"/>
              </a:rPr>
              <a:t>cd course_project_1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10ABC3-652F-4EB8-DA2E-D8D18425EE74}"/>
              </a:ext>
            </a:extLst>
          </p:cNvPr>
          <p:cNvSpPr txBox="1"/>
          <p:nvPr/>
        </p:nvSpPr>
        <p:spPr>
          <a:xfrm>
            <a:off x="585216" y="465146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800" dirty="0" err="1">
                <a:latin typeface="Courier New" panose="02070309020205020404" pitchFamily="49" charset="0"/>
                <a:ea typeface="等线" panose="02010600030101010101" charset="-122"/>
                <a:cs typeface="Courier New" panose="02070309020205020404" pitchFamily="49" charset="0"/>
              </a:rPr>
              <a:t>mkdir</a:t>
            </a:r>
            <a:r>
              <a:rPr kumimoji="1" lang="en-US" altLang="zh-CN" sz="1800" dirty="0">
                <a:latin typeface="Courier New" panose="02070309020205020404" pitchFamily="49" charset="0"/>
                <a:ea typeface="等线" panose="02010600030101010101" charset="-122"/>
                <a:cs typeface="Courier New" panose="02070309020205020404" pitchFamily="49" charset="0"/>
              </a:rPr>
              <a:t> part_1</a:t>
            </a:r>
            <a:endParaRPr lang="en-US" altLang="zh-CN" sz="1800" dirty="0">
              <a:latin typeface="Courier New" panose="02070309020205020404" pitchFamily="49" charset="0"/>
              <a:ea typeface="等线" panose="02010600030101010101" charset="-122"/>
              <a:cs typeface="Courier New" panose="02070309020205020404" pitchFamily="49" charset="0"/>
            </a:endParaRPr>
          </a:p>
          <a:p>
            <a:r>
              <a:rPr kumimoji="1" lang="en-US" altLang="zh-CN" sz="1800" dirty="0">
                <a:latin typeface="Courier New" panose="02070309020205020404" pitchFamily="49" charset="0"/>
                <a:ea typeface="等线" panose="02010600030101010101" charset="-122"/>
                <a:cs typeface="Courier New" panose="02070309020205020404" pitchFamily="49" charset="0"/>
              </a:rPr>
              <a:t>cd part_1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7E03E7-1082-AC8C-F4FD-38DD642E90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77" t="3180" r="29321"/>
          <a:stretch>
            <a:fillRect/>
          </a:stretch>
        </p:blipFill>
        <p:spPr>
          <a:xfrm>
            <a:off x="406400" y="3193774"/>
            <a:ext cx="11369083" cy="3426207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06400" y="763905"/>
            <a:ext cx="11786235" cy="218521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 to the </a:t>
            </a:r>
            <a:r>
              <a:rPr kumimoji="1"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CAZy</a:t>
            </a:r>
            <a:r>
              <a:rPr kumimoji="1"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 </a:t>
            </a:r>
            <a:r>
              <a:rPr kumimoji="1" lang="en-US" altLang="zh-CN" sz="2400" b="0" i="0" strike="noStrike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http://www.cazy.org/</a:t>
            </a:r>
            <a:r>
              <a:rPr kumimoji="1" lang="en-US" altLang="zh-CN" sz="24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1"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kumimoji="1"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GH classes on </a:t>
            </a:r>
            <a:r>
              <a:rPr kumimoji="1"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CAZy</a:t>
            </a:r>
            <a:r>
              <a:rPr kumimoji="1"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0" i="0" strike="noStrike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http://www.cazy.org/Glycoside-Hydrolases.html</a:t>
            </a:r>
            <a:r>
              <a:rPr kumimoji="1" lang="en-US" altLang="zh-CN" sz="24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endParaRPr kumimoji="1"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kumimoji="1"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GH31 (</a:t>
            </a:r>
            <a:r>
              <a:rPr kumimoji="1" lang="en-US" altLang="zh-CN" sz="28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change into your family</a:t>
            </a:r>
            <a:r>
              <a:rPr kumimoji="1"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1" lang="en-US" altLang="zh-CN" sz="2400" b="0" i="0" strike="noStrike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http://www.cazy.org/GH31.html</a:t>
            </a:r>
            <a:r>
              <a:rPr kumimoji="1" lang="en-US" altLang="zh-CN" sz="24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1" lang="en-US" altLang="zh-CN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txt file containing IDs</a:t>
            </a:r>
            <a:endParaRPr kumimoji="1"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73075" y="118745"/>
            <a:ext cx="10606405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3600" b="1" dirty="0"/>
              <a:t>1.2 - Download and Process </a:t>
            </a:r>
            <a:r>
              <a:rPr lang="en-US" altLang="zh-CN" sz="3600" b="1" dirty="0">
                <a:highlight>
                  <a:srgbClr val="FFFF00"/>
                </a:highlight>
              </a:rPr>
              <a:t>GH31</a:t>
            </a:r>
            <a:r>
              <a:rPr lang="en-US" altLang="zh-CN" sz="3600" b="1" dirty="0"/>
              <a:t> Family GenBank IDs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CB6488-305B-5D69-B315-D7FA4BFC08B5}"/>
              </a:ext>
            </a:extLst>
          </p:cNvPr>
          <p:cNvSpPr/>
          <p:nvPr/>
        </p:nvSpPr>
        <p:spPr>
          <a:xfrm>
            <a:off x="1473540" y="6289190"/>
            <a:ext cx="1892511" cy="43375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73075" y="937565"/>
            <a:ext cx="9303971" cy="523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buFont typeface="Wingdings" pitchFamily="2" charset="2"/>
              <a:buChar char="ü"/>
            </a:pPr>
            <a:r>
              <a:rPr kumimoji="1" lang="en-US" altLang="zh-CN" sz="28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Copy the link and use the </a:t>
            </a:r>
            <a:r>
              <a:rPr kumimoji="1" lang="en-US" altLang="zh-CN" sz="2800" dirty="0" err="1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wget</a:t>
            </a:r>
            <a:r>
              <a:rPr kumimoji="1" lang="en-US" altLang="zh-CN" sz="28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to download it on swan</a:t>
            </a:r>
            <a:endParaRPr lang="en-US" altLang="zh-CN" sz="1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73075" y="118745"/>
            <a:ext cx="1124596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1.2 - Download and Process </a:t>
            </a:r>
            <a:r>
              <a:rPr lang="en-US" altLang="zh-CN" sz="36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GH31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Family GenBank IDs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32765" y="3286705"/>
            <a:ext cx="3543251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>
              <a:buClrTx/>
              <a:buSzTx/>
              <a:buFont typeface="Arial" panose="020B0604020202020204" pitchFamily="34" charset="0"/>
              <a:buNone/>
            </a:pPr>
            <a:r>
              <a:rPr kumimoji="1" lang="en-US" altLang="zh-CN" sz="20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ea"/>
              </a:rPr>
              <a:t>Columns in GH31.txt </a:t>
            </a:r>
            <a:br>
              <a:rPr kumimoji="1" lang="en-US" altLang="zh-CN" sz="20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ea"/>
              </a:rPr>
            </a:br>
            <a:r>
              <a:rPr kumimoji="1" lang="en-US" altLang="zh-CN" sz="20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ea"/>
              </a:rPr>
              <a:t>1. Subfamily</a:t>
            </a:r>
          </a:p>
          <a:p>
            <a:pPr indent="0" algn="l">
              <a:buClrTx/>
              <a:buSzTx/>
              <a:buFont typeface="Arial" panose="020B0604020202020204" pitchFamily="34" charset="0"/>
              <a:buNone/>
            </a:pPr>
            <a:r>
              <a:rPr kumimoji="1" lang="en-US" altLang="zh-CN" sz="20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ea"/>
              </a:rPr>
              <a:t>2. Taxonomy: Domain</a:t>
            </a:r>
          </a:p>
          <a:p>
            <a:pPr indent="0" algn="l">
              <a:buClrTx/>
              <a:buSzTx/>
              <a:buFont typeface="Arial" panose="020B0604020202020204" pitchFamily="34" charset="0"/>
              <a:buNone/>
            </a:pPr>
            <a:r>
              <a:rPr kumimoji="1" lang="en-US" altLang="zh-CN" sz="20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ea"/>
              </a:rPr>
              <a:t>3. Organism: Species/Strain</a:t>
            </a:r>
          </a:p>
          <a:p>
            <a:pPr indent="0" algn="l">
              <a:buClrTx/>
              <a:buSzTx/>
              <a:buFont typeface="Arial" panose="020B0604020202020204" pitchFamily="34" charset="0"/>
              <a:buNone/>
            </a:pPr>
            <a:r>
              <a:rPr kumimoji="1" lang="en-US" altLang="zh-CN" sz="20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ea"/>
              </a:rPr>
              <a:t>4. Protein ID</a:t>
            </a:r>
          </a:p>
          <a:p>
            <a:pPr indent="0" algn="l">
              <a:buClrTx/>
              <a:buSzTx/>
              <a:buFont typeface="Arial" panose="020B0604020202020204" pitchFamily="34" charset="0"/>
              <a:buNone/>
            </a:pPr>
            <a:r>
              <a:rPr kumimoji="1" lang="en-US" altLang="zh-CN" sz="20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ea"/>
              </a:rPr>
              <a:t>5. Database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B9F1E8-87B2-BC69-E0C2-9AAF5D339352}"/>
              </a:ext>
            </a:extLst>
          </p:cNvPr>
          <p:cNvSpPr txBox="1"/>
          <p:nvPr/>
        </p:nvSpPr>
        <p:spPr>
          <a:xfrm>
            <a:off x="970176" y="1819747"/>
            <a:ext cx="6801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latin typeface="Courier New" panose="02070309020205020404" pitchFamily="49" charset="0"/>
                <a:ea typeface="等线" panose="02010600030101010101" charset="-122"/>
                <a:cs typeface="Courier New" panose="02070309020205020404" pitchFamily="49" charset="0"/>
              </a:rPr>
              <a:t>wget</a:t>
            </a:r>
            <a:r>
              <a:rPr kumimoji="1" lang="en-US" altLang="zh-CN" dirty="0">
                <a:latin typeface="Courier New" panose="02070309020205020404" pitchFamily="49" charset="0"/>
                <a:ea typeface="等线" panose="02010600030101010101" charset="-122"/>
                <a:cs typeface="Courier New" panose="02070309020205020404" pitchFamily="49" charset="0"/>
              </a:rPr>
              <a:t> https://</a:t>
            </a:r>
            <a:r>
              <a:rPr kumimoji="1" lang="en-US" altLang="zh-CN" dirty="0" err="1">
                <a:latin typeface="Courier New" panose="02070309020205020404" pitchFamily="49" charset="0"/>
                <a:ea typeface="等线" panose="02010600030101010101" charset="-122"/>
                <a:cs typeface="Courier New" panose="02070309020205020404" pitchFamily="49" charset="0"/>
              </a:rPr>
              <a:t>www.cazy.org</a:t>
            </a:r>
            <a:r>
              <a:rPr kumimoji="1" lang="en-US" altLang="zh-CN" dirty="0">
                <a:latin typeface="Courier New" panose="02070309020205020404" pitchFamily="49" charset="0"/>
                <a:ea typeface="等线" panose="02010600030101010101" charset="-122"/>
                <a:cs typeface="Courier New" panose="02070309020205020404" pitchFamily="49" charset="0"/>
              </a:rPr>
              <a:t>/IMG/</a:t>
            </a:r>
            <a:r>
              <a:rPr kumimoji="1" lang="en-US" altLang="zh-CN" dirty="0" err="1">
                <a:latin typeface="Courier New" panose="02070309020205020404" pitchFamily="49" charset="0"/>
                <a:ea typeface="等线" panose="02010600030101010101" charset="-122"/>
                <a:cs typeface="Courier New" panose="02070309020205020404" pitchFamily="49" charset="0"/>
              </a:rPr>
              <a:t>cazy_data</a:t>
            </a:r>
            <a:r>
              <a:rPr kumimoji="1" lang="en-US" altLang="zh-CN" dirty="0">
                <a:latin typeface="Courier New" panose="02070309020205020404" pitchFamily="49" charset="0"/>
                <a:ea typeface="等线" panose="02010600030101010101" charset="-122"/>
                <a:cs typeface="Courier New" panose="02070309020205020404" pitchFamily="49" charset="0"/>
              </a:rPr>
              <a:t>/GH31.txt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0" name="Picture 9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EEB7C19F-A390-D828-3497-170A34C8EA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786" y="2674395"/>
            <a:ext cx="7772400" cy="398905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73075" y="118745"/>
            <a:ext cx="111913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1.2 - Download and Process </a:t>
            </a:r>
            <a:r>
              <a:rPr lang="en-US" altLang="zh-CN" sz="36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GH31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Family GenBank IDs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40D116-5246-6B0A-4F79-17131D1AB42B}"/>
              </a:ext>
            </a:extLst>
          </p:cNvPr>
          <p:cNvSpPr txBox="1"/>
          <p:nvPr/>
        </p:nvSpPr>
        <p:spPr>
          <a:xfrm>
            <a:off x="1506775" y="5290583"/>
            <a:ext cx="37240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err="1">
                <a:latin typeface="Courier New" panose="02070309020205020404"/>
                <a:ea typeface="+mn-lt"/>
                <a:cs typeface="Courier New" panose="02070309020205020404"/>
              </a:rPr>
              <a:t>wc</a:t>
            </a:r>
            <a:r>
              <a:rPr lang="en-US" altLang="zh-CN" sz="2000" dirty="0">
                <a:latin typeface="Courier New" panose="02070309020205020404"/>
                <a:ea typeface="+mn-lt"/>
                <a:cs typeface="Courier New" panose="02070309020205020404"/>
              </a:rPr>
              <a:t> -l </a:t>
            </a:r>
            <a:r>
              <a:rPr lang="en-US" altLang="zh-CN" sz="2000" dirty="0" err="1">
                <a:latin typeface="Courier New" panose="02070309020205020404"/>
                <a:ea typeface="+mn-lt"/>
                <a:cs typeface="Courier New" panose="02070309020205020404"/>
              </a:rPr>
              <a:t>uniq_list_ids.txt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07497D-7507-4361-5FE5-48243E680EFD}"/>
              </a:ext>
            </a:extLst>
          </p:cNvPr>
          <p:cNvSpPr txBox="1"/>
          <p:nvPr/>
        </p:nvSpPr>
        <p:spPr>
          <a:xfrm>
            <a:off x="735501" y="1167307"/>
            <a:ext cx="92672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itchFamily="2" charset="2"/>
              <a:buChar char="ü"/>
            </a:pPr>
            <a:r>
              <a:rPr kumimoji="1" lang="en-US" altLang="zh-CN" sz="2800" b="1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Use GH31.txt to get a list of </a:t>
            </a:r>
            <a:r>
              <a:rPr kumimoji="1" lang="en-US" altLang="zh-CN" sz="2800" b="1" dirty="0" err="1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genbank</a:t>
            </a:r>
            <a:r>
              <a:rPr kumimoji="1" lang="en-US" altLang="zh-CN" sz="2800" b="1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ids of GH31 family</a:t>
            </a:r>
            <a:endParaRPr kumimoji="1"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A75B64-1F95-3698-C1B1-61B55E58ABEC}"/>
              </a:ext>
            </a:extLst>
          </p:cNvPr>
          <p:cNvSpPr txBox="1"/>
          <p:nvPr/>
        </p:nvSpPr>
        <p:spPr>
          <a:xfrm>
            <a:off x="735501" y="2817384"/>
            <a:ext cx="47820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itchFamily="2" charset="2"/>
              <a:buChar char="ü"/>
            </a:pPr>
            <a:r>
              <a:rPr kumimoji="1" lang="en-US" altLang="zh-CN" sz="2800" b="1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Remove the redundant IDs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04FCE6-E1CD-A253-D5B8-35EA920F6191}"/>
              </a:ext>
            </a:extLst>
          </p:cNvPr>
          <p:cNvSpPr txBox="1"/>
          <p:nvPr/>
        </p:nvSpPr>
        <p:spPr>
          <a:xfrm>
            <a:off x="735501" y="4567789"/>
            <a:ext cx="65039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itchFamily="2" charset="2"/>
              <a:buChar char="ü"/>
            </a:pPr>
            <a:r>
              <a:rPr kumimoji="1" lang="en-US" altLang="zh-CN" sz="2800" b="1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You will get 33192 unique ids in GH31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C61F67-2611-A17E-DABE-10F895EBC8D4}"/>
              </a:ext>
            </a:extLst>
          </p:cNvPr>
          <p:cNvSpPr txBox="1"/>
          <p:nvPr/>
        </p:nvSpPr>
        <p:spPr>
          <a:xfrm>
            <a:off x="1506775" y="1923005"/>
            <a:ext cx="84946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less GH31.txt | grep -w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ncbi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| cut -f 4 &gt;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list_ids.txt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8F856F-F425-F79D-8CDF-49FE5568A18C}"/>
              </a:ext>
            </a:extLst>
          </p:cNvPr>
          <p:cNvSpPr txBox="1"/>
          <p:nvPr/>
        </p:nvSpPr>
        <p:spPr>
          <a:xfrm>
            <a:off x="1506775" y="3604040"/>
            <a:ext cx="79303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dirty="0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cat </a:t>
            </a:r>
            <a:r>
              <a:rPr kumimoji="1" lang="en-US" altLang="zh-CN" sz="2000" dirty="0" err="1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list_ids.txt</a:t>
            </a:r>
            <a:r>
              <a:rPr kumimoji="1" lang="en-US" altLang="zh-CN" sz="2000" dirty="0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 | sort | </a:t>
            </a:r>
            <a:r>
              <a:rPr kumimoji="1" lang="en-US" altLang="zh-CN" sz="2000" dirty="0" err="1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uniq</a:t>
            </a:r>
            <a:r>
              <a:rPr kumimoji="1" lang="en-US" altLang="zh-CN" sz="2000" dirty="0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 &gt; </a:t>
            </a:r>
            <a:r>
              <a:rPr kumimoji="1" lang="en-US" altLang="zh-CN" sz="2000" dirty="0" err="1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uniq_list_ids.txt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69697" y="5951821"/>
            <a:ext cx="609600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000" b="0" i="0" strike="noStrike" dirty="0">
                <a:hlinkClick r:id="rId2"/>
              </a:rPr>
              <a:t>https://www.ncbi.nlm.nih.gov/books/NBK179288/</a:t>
            </a:r>
            <a:endParaRPr kumimoji="1" lang="en-US" altLang="zh-CN" sz="2000" dirty="0"/>
          </a:p>
        </p:txBody>
      </p:sp>
      <p:sp>
        <p:nvSpPr>
          <p:cNvPr id="7" name="文本框 6"/>
          <p:cNvSpPr txBox="1"/>
          <p:nvPr/>
        </p:nvSpPr>
        <p:spPr>
          <a:xfrm>
            <a:off x="240030" y="1365568"/>
            <a:ext cx="5363210" cy="353943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kumimoji="1"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Entrez Programming Utilities (E-utilities) are server-side tools </a:t>
            </a:r>
            <a:r>
              <a:rPr kumimoji="1"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 automating queries and retrieving data from NCBI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kumimoji="1" lang="en-US" altLang="zh-C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kumimoji="1" lang="en-US" altLang="zh-C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NCBI has provided API keys that offer enhanced levels of supported access to the E-utilities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4477" y="215011"/>
            <a:ext cx="120630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1.3 - Automating NCBI Data Retrieval with E-utilities and API Keys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72565"/>
            <a:ext cx="5855970" cy="435927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69570" y="550481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>
              <a:buClrTx/>
              <a:buSzTx/>
              <a:buNone/>
            </a:pPr>
            <a:r>
              <a:rPr kumimoji="1" lang="en-US" altLang="zh-CN" sz="2000" dirty="0">
                <a:hlinkClick r:id="rId4" action="ppaction://hlinkfile"/>
              </a:rPr>
              <a:t>https://www.ncbi.nlm.nih.gov/books/NBK25497/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6C496C-D4C2-44FB-3B05-67FA43E37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759" y="4001162"/>
            <a:ext cx="6309287" cy="240308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28954" y="2298302"/>
            <a:ext cx="5842635" cy="206210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Creating an NCBI Account (Recommended to Use Your UNL Account)   </a:t>
            </a:r>
            <a:r>
              <a:rPr kumimoji="1"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https://account.ncbi.nlm.nih.gov/ </a:t>
            </a:r>
            <a:endParaRPr kumimoji="1"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kumimoji="1"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28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Then go to the “Account settings”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rcRect t="13820"/>
          <a:stretch>
            <a:fillRect/>
          </a:stretch>
        </p:blipFill>
        <p:spPr>
          <a:xfrm>
            <a:off x="6623538" y="867653"/>
            <a:ext cx="5315097" cy="270788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28954" y="86360"/>
            <a:ext cx="120630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1.3 - Automating NCBI Data Retrieval with E-utilities and API Keys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FF4170-6083-C162-8FD0-8A41B57A9E59}"/>
              </a:ext>
            </a:extLst>
          </p:cNvPr>
          <p:cNvSpPr/>
          <p:nvPr/>
        </p:nvSpPr>
        <p:spPr>
          <a:xfrm>
            <a:off x="10739357" y="5582224"/>
            <a:ext cx="949570" cy="25790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5A53E53-DD1B-098F-72CE-B6E9050B96AE}"/>
              </a:ext>
            </a:extLst>
          </p:cNvPr>
          <p:cNvSpPr/>
          <p:nvPr/>
        </p:nvSpPr>
        <p:spPr>
          <a:xfrm>
            <a:off x="8675077" y="3270738"/>
            <a:ext cx="1289539" cy="39858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4A86FD-E559-04D9-C9E1-B57E685DC96E}"/>
              </a:ext>
            </a:extLst>
          </p:cNvPr>
          <p:cNvSpPr txBox="1"/>
          <p:nvPr/>
        </p:nvSpPr>
        <p:spPr>
          <a:xfrm>
            <a:off x="7869708" y="3631830"/>
            <a:ext cx="4068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Search</a:t>
            </a:r>
            <a:r>
              <a:rPr lang="zh-CN" altLang="en-US" dirty="0"/>
              <a:t> </a:t>
            </a:r>
            <a:r>
              <a:rPr lang="en-US" altLang="zh-CN" b="1" dirty="0"/>
              <a:t>University of Nebraska</a:t>
            </a:r>
            <a:endParaRPr lang="en-CN"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D96041B-293E-D1E8-192E-905AFB5E14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7003" y="965165"/>
            <a:ext cx="7360352" cy="579967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0" y="3341783"/>
            <a:ext cx="4747003" cy="523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292100" indent="-231775">
              <a:buFont typeface="Arial" panose="020B0604020202020204" pitchFamily="34" charset="0"/>
              <a:buChar char="•"/>
            </a:pPr>
            <a:r>
              <a:rPr kumimoji="1" lang="en-US" altLang="zh-CN" sz="2800" dirty="0">
                <a:ea typeface="等线" panose="02010600030101010101" charset="-122"/>
              </a:rPr>
              <a:t>Find your API key in the end.</a:t>
            </a:r>
            <a:endParaRPr lang="en-US" altLang="zh-CN" sz="2800" dirty="0">
              <a:ea typeface="等线" panose="02010600030101010101" charset="-122"/>
              <a:cs typeface="Calibri" panose="020F0502020204030204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40677" y="227037"/>
            <a:ext cx="120513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1.3 - Automating NCBI Data Retrieval with E-utilities and API Keys</a:t>
            </a:r>
          </a:p>
        </p:txBody>
      </p:sp>
      <p:sp>
        <p:nvSpPr>
          <p:cNvPr id="10" name="Round Single Corner Rectangle 9">
            <a:extLst>
              <a:ext uri="{FF2B5EF4-FFF2-40B4-BE49-F238E27FC236}">
                <a16:creationId xmlns:a16="http://schemas.microsoft.com/office/drawing/2014/main" id="{27CCCC20-6DB9-CF16-E3D2-B6A960F57DB4}"/>
              </a:ext>
            </a:extLst>
          </p:cNvPr>
          <p:cNvSpPr/>
          <p:nvPr/>
        </p:nvSpPr>
        <p:spPr>
          <a:xfrm>
            <a:off x="4747003" y="6241621"/>
            <a:ext cx="2581449" cy="368569"/>
          </a:xfrm>
          <a:prstGeom prst="round1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6E55B89-733C-B307-FDB0-95BFA207EDAF}"/>
              </a:ext>
            </a:extLst>
          </p:cNvPr>
          <p:cNvSpPr/>
          <p:nvPr/>
        </p:nvSpPr>
        <p:spPr>
          <a:xfrm>
            <a:off x="5753100" y="6333763"/>
            <a:ext cx="1473200" cy="18428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2FBFC2-1173-BCC8-2A13-64D0642D9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3480" y="1245713"/>
            <a:ext cx="4445427" cy="292890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09551" y="296545"/>
            <a:ext cx="11360657" cy="60631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kumimoji="1" lang="en-US" altLang="zh-CN" sz="2400" b="0" i="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Run the following command:</a:t>
            </a:r>
          </a:p>
          <a:p>
            <a:pPr algn="l">
              <a:buClrTx/>
              <a:buSzTx/>
              <a:buFontTx/>
            </a:pPr>
            <a:endParaRPr kumimoji="1" lang="en-US" altLang="zh-CN" sz="1600" dirty="0">
              <a:latin typeface="Courier New" panose="02070309020205020404"/>
              <a:ea typeface="等线" panose="02010600030101010101" charset="-122"/>
              <a:cs typeface="Courier New" panose="02070309020205020404"/>
            </a:endParaRPr>
          </a:p>
          <a:p>
            <a:pPr algn="l">
              <a:buClrTx/>
              <a:buSzTx/>
              <a:buFontTx/>
            </a:pPr>
            <a:r>
              <a:rPr kumimoji="1" lang="en-US" altLang="zh-CN" sz="1600" dirty="0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  </a:t>
            </a:r>
          </a:p>
          <a:p>
            <a:pPr algn="l">
              <a:buClrTx/>
              <a:buSzTx/>
              <a:buFontTx/>
            </a:pPr>
            <a:r>
              <a:rPr kumimoji="1" lang="en-US" altLang="zh-CN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(Type y and click enter if it asks you to do it)</a:t>
            </a:r>
          </a:p>
          <a:p>
            <a:endParaRPr lang="en-US" altLang="zh-CN" sz="1400" dirty="0">
              <a:solidFill>
                <a:srgbClr val="000000"/>
              </a:solidFill>
              <a:latin typeface="Calibri" panose="020F0502020204030204"/>
              <a:ea typeface="等线" panose="02010600030101010101" charset="-122"/>
              <a:cs typeface="Calibri" panose="020F0502020204030204"/>
            </a:endParaRPr>
          </a:p>
          <a:p>
            <a:endParaRPr lang="en-US" altLang="zh-CN" sz="1400" dirty="0">
              <a:solidFill>
                <a:srgbClr val="000000"/>
              </a:solidFill>
              <a:latin typeface="Calibri" panose="020F0502020204030204"/>
              <a:ea typeface="等线" panose="02010600030101010101" charset="-122"/>
              <a:cs typeface="Calibri" panose="020F0502020204030204"/>
            </a:endParaRPr>
          </a:p>
          <a:p>
            <a:endParaRPr lang="en-US" altLang="zh-CN" sz="1400" dirty="0">
              <a:solidFill>
                <a:srgbClr val="000000"/>
              </a:solidFill>
              <a:latin typeface="Calibri" panose="020F0502020204030204"/>
              <a:ea typeface="等线" panose="02010600030101010101" charset="-122"/>
              <a:cs typeface="Calibri" panose="020F0502020204030204"/>
            </a:endParaRPr>
          </a:p>
          <a:p>
            <a:endParaRPr lang="en-US" altLang="zh-CN" sz="1400" dirty="0">
              <a:solidFill>
                <a:srgbClr val="000000"/>
              </a:solidFill>
              <a:latin typeface="Calibri" panose="020F0502020204030204"/>
              <a:ea typeface="等线" panose="02010600030101010101" charset="-122"/>
              <a:cs typeface="Calibri" panose="020F0502020204030204"/>
            </a:endParaRPr>
          </a:p>
          <a:p>
            <a:endParaRPr lang="en-US" altLang="zh-CN" sz="1400" dirty="0">
              <a:solidFill>
                <a:srgbClr val="000000"/>
              </a:solidFill>
              <a:latin typeface="Calibri" panose="020F0502020204030204"/>
              <a:ea typeface="等线" panose="02010600030101010101" charset="-122"/>
              <a:cs typeface="Calibri" panose="020F0502020204030204"/>
            </a:endParaRPr>
          </a:p>
          <a:p>
            <a:endParaRPr lang="en-US" altLang="zh-CN" sz="1400" dirty="0">
              <a:solidFill>
                <a:srgbClr val="000000"/>
              </a:solidFill>
              <a:latin typeface="Calibri" panose="020F0502020204030204"/>
              <a:ea typeface="等线" panose="02010600030101010101" charset="-122"/>
              <a:cs typeface="Calibri" panose="020F0502020204030204"/>
            </a:endParaRPr>
          </a:p>
          <a:p>
            <a:endParaRPr lang="en-US" altLang="zh-CN" sz="1400" dirty="0">
              <a:solidFill>
                <a:srgbClr val="000000"/>
              </a:solidFill>
              <a:latin typeface="Calibri" panose="020F0502020204030204"/>
              <a:ea typeface="等线" panose="02010600030101010101" charset="-122"/>
              <a:cs typeface="Calibri" panose="020F0502020204030204"/>
            </a:endParaRPr>
          </a:p>
          <a:p>
            <a:endParaRPr lang="en-US" altLang="zh-CN" sz="1400" dirty="0">
              <a:solidFill>
                <a:srgbClr val="000000"/>
              </a:solidFill>
              <a:latin typeface="Calibri" panose="020F0502020204030204"/>
              <a:ea typeface="等线" panose="02010600030101010101" charset="-122"/>
              <a:cs typeface="Calibri" panose="020F0502020204030204"/>
            </a:endParaRPr>
          </a:p>
          <a:p>
            <a:endParaRPr lang="en-US" altLang="zh-CN" sz="1400" dirty="0">
              <a:solidFill>
                <a:srgbClr val="000000"/>
              </a:solidFill>
              <a:latin typeface="Aptos Mono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And use this command to set your NCBI API key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rgbClr val="000000"/>
              </a:solidFill>
              <a:latin typeface="Courier New" panose="02070309020205020404"/>
              <a:ea typeface="等线" panose="02010600030101010101" charset="-122"/>
              <a:cs typeface="Courier New" panose="02070309020205020404"/>
            </a:endParaRPr>
          </a:p>
          <a:p>
            <a:pPr algn="l">
              <a:buClrTx/>
              <a:buSzTx/>
              <a:buFontTx/>
            </a:pPr>
            <a:endParaRPr kumimoji="1" lang="en-US" altLang="zh-CN" sz="1600" dirty="0">
              <a:latin typeface="Courier New" panose="02070309020205020404"/>
              <a:ea typeface="等线" panose="02010600030101010101" charset="-122"/>
              <a:cs typeface="Courier New" panose="02070309020205020404"/>
            </a:endParaRPr>
          </a:p>
          <a:p>
            <a:pPr algn="l">
              <a:buClrTx/>
              <a:buSzTx/>
              <a:buFontTx/>
            </a:pPr>
            <a:endParaRPr kumimoji="1" lang="en-US" altLang="zh-CN" sz="1600" dirty="0">
              <a:latin typeface="Courier New" panose="02070309020205020404"/>
              <a:ea typeface="等线" panose="02010600030101010101" charset="-122"/>
              <a:cs typeface="Courier New" panose="02070309020205020404"/>
            </a:endParaRPr>
          </a:p>
          <a:p>
            <a:pPr algn="l">
              <a:buClrTx/>
              <a:buSzTx/>
              <a:buFontTx/>
            </a:pPr>
            <a:endParaRPr kumimoji="1" lang="en-US" altLang="zh-CN" sz="1600" dirty="0">
              <a:latin typeface="Courier New" panose="02070309020205020404"/>
              <a:ea typeface="等线" panose="02010600030101010101" charset="-122"/>
              <a:cs typeface="Courier New" panose="02070309020205020404"/>
            </a:endParaRPr>
          </a:p>
          <a:p>
            <a:pPr algn="l">
              <a:buClrTx/>
              <a:buSzTx/>
              <a:buFontTx/>
            </a:pPr>
            <a:endParaRPr kumimoji="1" lang="en-US" altLang="zh-CN" sz="1600" dirty="0">
              <a:latin typeface="Courier New" panose="02070309020205020404"/>
              <a:ea typeface="等线" panose="02010600030101010101" charset="-122"/>
              <a:cs typeface="Courier New" panose="02070309020205020404"/>
            </a:endParaRPr>
          </a:p>
          <a:p>
            <a:pPr algn="l">
              <a:buClrTx/>
              <a:buSzTx/>
              <a:buFontTx/>
            </a:pPr>
            <a:endParaRPr kumimoji="1" lang="en-US" altLang="zh-CN" sz="1600" dirty="0">
              <a:latin typeface="Courier New" panose="02070309020205020404"/>
              <a:ea typeface="等线" panose="02010600030101010101" charset="-122"/>
              <a:cs typeface="Courier New" panose="02070309020205020404"/>
            </a:endParaRPr>
          </a:p>
          <a:p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Revise to change email address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The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uniq_list_ids.txt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file will be processed for this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sh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script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478" y="1575669"/>
            <a:ext cx="6633210" cy="1426845"/>
          </a:xfrm>
          <a:prstGeom prst="rect">
            <a:avLst/>
          </a:prstGeom>
        </p:spPr>
      </p:pic>
      <p:cxnSp>
        <p:nvCxnSpPr>
          <p:cNvPr id="10" name="直接箭头连接符 4">
            <a:extLst>
              <a:ext uri="{FF2B5EF4-FFF2-40B4-BE49-F238E27FC236}">
                <a16:creationId xmlns:a16="http://schemas.microsoft.com/office/drawing/2014/main" id="{626F655A-B26B-6233-3674-97DDD4DC8A31}"/>
              </a:ext>
            </a:extLst>
          </p:cNvPr>
          <p:cNvCxnSpPr>
            <a:cxnSpLocks/>
          </p:cNvCxnSpPr>
          <p:nvPr/>
        </p:nvCxnSpPr>
        <p:spPr>
          <a:xfrm flipV="1">
            <a:off x="5115697" y="1816443"/>
            <a:ext cx="2842441" cy="3225114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AD8AF23-7F27-DDE8-2FC9-FBC4AA78E8CE}"/>
              </a:ext>
            </a:extLst>
          </p:cNvPr>
          <p:cNvSpPr txBox="1"/>
          <p:nvPr/>
        </p:nvSpPr>
        <p:spPr>
          <a:xfrm>
            <a:off x="375852" y="4242567"/>
            <a:ext cx="76956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kumimoji="1" lang="en-US" altLang="zh-CN" sz="1600" dirty="0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cp ../course-project-1-Subfamily-classification-of-glycoside-hydrolase-family/</a:t>
            </a:r>
            <a:r>
              <a:rPr kumimoji="1" lang="en-US" altLang="zh-CN" sz="1600" dirty="0" err="1">
                <a:highlight>
                  <a:srgbClr val="00FFFF"/>
                </a:highlight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batch_download_protein_seqeunces.sh</a:t>
            </a:r>
            <a:r>
              <a:rPr kumimoji="1" lang="en-US" altLang="zh-CN" sz="1600" dirty="0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 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0F9AF3-8D80-7FCF-B648-5E3DDEF5DF55}"/>
              </a:ext>
            </a:extLst>
          </p:cNvPr>
          <p:cNvSpPr txBox="1"/>
          <p:nvPr/>
        </p:nvSpPr>
        <p:spPr>
          <a:xfrm>
            <a:off x="375852" y="5041557"/>
            <a:ext cx="64190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kumimoji="1" lang="en-US" altLang="zh-CN" sz="1800" dirty="0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nano </a:t>
            </a:r>
            <a:r>
              <a:rPr kumimoji="1" lang="en-US" altLang="zh-CN" sz="1800" dirty="0" err="1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batch_download_protein_seqeunces.sh</a:t>
            </a:r>
            <a:endParaRPr kumimoji="1" lang="en-US" altLang="zh-CN" sz="1800" dirty="0">
              <a:latin typeface="Courier New" panose="02070309020205020404"/>
              <a:ea typeface="等线" panose="02010600030101010101" charset="-122"/>
              <a:cs typeface="Courier New" panose="0207030902020502040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05E1ED-A75C-0AC0-40A4-064D7F4167AC}"/>
              </a:ext>
            </a:extLst>
          </p:cNvPr>
          <p:cNvSpPr txBox="1"/>
          <p:nvPr/>
        </p:nvSpPr>
        <p:spPr>
          <a:xfrm>
            <a:off x="375852" y="3812642"/>
            <a:ext cx="64190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kumimoji="1" lang="en-US" altLang="zh-CN" sz="1800" dirty="0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export NCBI_API_KEY=</a:t>
            </a:r>
            <a:r>
              <a:rPr kumimoji="1" lang="en-US" altLang="zh-CN" sz="1800" dirty="0" err="1">
                <a:highlight>
                  <a:srgbClr val="FFFF00"/>
                </a:highlight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your_API_KEY</a:t>
            </a:r>
            <a:endParaRPr kumimoji="1" lang="en-US" altLang="zh-CN" sz="1800" dirty="0">
              <a:highlight>
                <a:srgbClr val="FFFF00"/>
              </a:highlight>
              <a:latin typeface="Courier New" panose="02070309020205020404"/>
              <a:ea typeface="等线" panose="02010600030101010101" charset="-122"/>
              <a:cs typeface="Courier New" panose="0207030902020502040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AF6730-164A-0AB7-7EC5-54DFDAB9AD6C}"/>
              </a:ext>
            </a:extLst>
          </p:cNvPr>
          <p:cNvSpPr txBox="1"/>
          <p:nvPr/>
        </p:nvSpPr>
        <p:spPr>
          <a:xfrm>
            <a:off x="375852" y="786366"/>
            <a:ext cx="111943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600" b="0" i="0" dirty="0" err="1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sh</a:t>
            </a:r>
            <a:r>
              <a:rPr kumimoji="1" lang="en-US" altLang="zh-CN" sz="1600" b="0" i="0" dirty="0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 -c "$(curl -</a:t>
            </a:r>
            <a:r>
              <a:rPr kumimoji="1" lang="en-US" altLang="zh-CN" sz="1600" b="0" i="0" dirty="0" err="1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fsSL</a:t>
            </a:r>
            <a:r>
              <a:rPr kumimoji="1" lang="en-US" altLang="zh-CN" sz="1600" b="0" i="0" dirty="0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 </a:t>
            </a:r>
            <a:r>
              <a:rPr kumimoji="1" lang="en-US" altLang="zh-CN" sz="1600" b="0" i="0" strike="noStrike" dirty="0">
                <a:latin typeface="Courier New" panose="02070309020205020404"/>
                <a:ea typeface="等线" panose="02010600030101010101" charset="-122"/>
                <a:cs typeface="Courier New" panose="02070309020205020404"/>
                <a:hlinkClick r:id="rId5"/>
              </a:rPr>
              <a:t>https://ftp.ncbi.nlm.nih.gov/entrez/entrezdirect/install-edirect.sh</a:t>
            </a:r>
            <a:r>
              <a:rPr kumimoji="1" lang="en-US" altLang="zh-CN" sz="1600" b="0" i="0" dirty="0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)</a:t>
            </a:r>
            <a:r>
              <a:rPr kumimoji="1" lang="en-US" altLang="zh-CN" sz="1600" dirty="0">
                <a:latin typeface="Courier New" panose="02070309020205020404"/>
                <a:ea typeface="等线" panose="02010600030101010101" charset="-122"/>
                <a:cs typeface="Courier New" panose="02070309020205020404"/>
                <a:sym typeface="+mn-ea"/>
              </a:rPr>
              <a:t>"</a:t>
            </a:r>
            <a:endParaRPr lang="en-US" sz="1600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B80AF8C-E31E-6182-9D13-1E49A8EB40D1}"/>
              </a:ext>
            </a:extLst>
          </p:cNvPr>
          <p:cNvSpPr/>
          <p:nvPr/>
        </p:nvSpPr>
        <p:spPr>
          <a:xfrm>
            <a:off x="7200900" y="1575669"/>
            <a:ext cx="2197100" cy="24077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400685" y="471225"/>
            <a:ext cx="9132712" cy="32918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kumimoji="1" lang="en-US" altLang="zh-CN" sz="2400" b="0" i="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After that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b="0" i="0" dirty="0">
              <a:solidFill>
                <a:srgbClr val="000000"/>
              </a:solidFill>
              <a:effectLst/>
              <a:latin typeface="Aptos Mono"/>
            </a:endParaRPr>
          </a:p>
          <a:p>
            <a:r>
              <a:rPr lang="en-GB" altLang="zh-CN" sz="1600" dirty="0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    </a:t>
            </a:r>
            <a:r>
              <a:rPr lang="en-GB" altLang="zh-CN" sz="1600" dirty="0" err="1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sbatch</a:t>
            </a:r>
            <a:r>
              <a:rPr lang="en-GB" altLang="zh-CN" sz="1600" dirty="0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 </a:t>
            </a:r>
            <a:r>
              <a:rPr lang="en-GB" altLang="zh-CN" sz="1600" dirty="0" err="1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batch_download_protein_seqeunces.sh</a:t>
            </a:r>
            <a:endParaRPr lang="en-US" altLang="zh-CN" sz="1600" dirty="0">
              <a:solidFill>
                <a:srgbClr val="000000"/>
              </a:solidFill>
              <a:latin typeface="Courier New" panose="02070309020205020404"/>
              <a:ea typeface="等线" panose="02010600030101010101" charset="-122"/>
              <a:cs typeface="Courier New" panose="02070309020205020404"/>
            </a:endParaRPr>
          </a:p>
          <a:p>
            <a:endParaRPr lang="en-US" altLang="zh-CN" sz="2400" dirty="0">
              <a:solidFill>
                <a:srgbClr val="000000"/>
              </a:solidFill>
              <a:latin typeface="Aptos Mono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It takes ~20 mins to downloading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33188</a:t>
            </a:r>
            <a:r>
              <a:rPr lang="en-GB" altLang="zh-CN" sz="24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ids were found and downloaded.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zh-CN" sz="24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Finally, you get a file called “</a:t>
            </a:r>
            <a:r>
              <a:rPr lang="en-GB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batch_protein_sequences.fasta</a:t>
            </a:r>
            <a:r>
              <a:rPr lang="en-GB" altLang="zh-CN" sz="24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”.</a:t>
            </a:r>
            <a:endParaRPr lang="zh-CN" altLang="en-US" sz="2400" dirty="0"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00685" y="4631055"/>
            <a:ext cx="116973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GB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ea"/>
              </a:rPr>
              <a:t>“</a:t>
            </a:r>
            <a:r>
              <a:rPr lang="en-GB" altLang="zh-CN" sz="2400" dirty="0" err="1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ea"/>
              </a:rPr>
              <a:t>batch_protein_sequences.fasta</a:t>
            </a:r>
            <a:r>
              <a:rPr lang="en-GB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ea"/>
              </a:rPr>
              <a:t>”</a:t>
            </a:r>
            <a:r>
              <a:rPr lang="en-US" altLang="en-GB" sz="24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ea"/>
              </a:rPr>
              <a:t>: </a:t>
            </a:r>
            <a:r>
              <a:rPr lang="en-GB" altLang="zh-CN" sz="2400" b="1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protein sequences downloaded from </a:t>
            </a:r>
            <a:r>
              <a:rPr lang="en-US" altLang="zh-CN" sz="2400" b="1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NCBI </a:t>
            </a:r>
            <a:r>
              <a:rPr lang="en-GB" altLang="zh-CN" sz="2400" b="1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using GenBank IDs extracted from the GH31.txt file on the </a:t>
            </a:r>
            <a:r>
              <a:rPr lang="en-GB" altLang="zh-CN" sz="2400" b="1" dirty="0" err="1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CAZy</a:t>
            </a:r>
            <a:r>
              <a:rPr lang="en-GB" altLang="zh-CN" sz="2400" b="1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website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annotation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39978" y="3870020"/>
            <a:ext cx="4712043" cy="151752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Create your part_2 folder </a:t>
            </a:r>
          </a:p>
          <a:p>
            <a:r>
              <a:rPr lang="en-US" sz="2800" dirty="0" err="1"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mkdir</a:t>
            </a:r>
            <a:r>
              <a:rPr lang="en-US" sz="2800" dirty="0"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 part_2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40397" y="72543"/>
            <a:ext cx="111918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Tx/>
              <a:buSzTx/>
              <a:buFontTx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2.1 - Domain Annotation of Protein Sequences Using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HMMER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dbCAN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5590" y="1370965"/>
            <a:ext cx="1119187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kumimoji="1" lang="en-US" altLang="zh-CN" sz="2800" b="1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HMMER</a:t>
            </a:r>
            <a:r>
              <a:rPr kumimoji="1" lang="en-US" altLang="zh-CN" sz="28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is used for searching sequence databases for sequence homologs, and for making sequence alignments. HMMER is often used together with a profile database, such as </a:t>
            </a:r>
            <a:r>
              <a:rPr kumimoji="1" lang="en-US" altLang="zh-CN" sz="2800" dirty="0" err="1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Pfam</a:t>
            </a:r>
            <a:r>
              <a:rPr kumimoji="1" lang="en-US" altLang="zh-CN" sz="28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.</a:t>
            </a: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endParaRPr kumimoji="1" lang="en-US" altLang="zh-CN" sz="2800" dirty="0"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kumimoji="1" lang="en-US" altLang="zh-CN" sz="2800" b="1" dirty="0" err="1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dbCAN</a:t>
            </a:r>
            <a:r>
              <a:rPr kumimoji="1" lang="en-US" altLang="zh-CN" sz="2800" b="1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: </a:t>
            </a:r>
            <a:r>
              <a:rPr kumimoji="1" lang="en-US" altLang="zh-CN" sz="28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 database for CAZyme family-specific signature domains.</a:t>
            </a:r>
          </a:p>
        </p:txBody>
      </p:sp>
      <p:sp>
        <p:nvSpPr>
          <p:cNvPr id="5" name="文本框 4">
            <a:hlinkClick r:id="rId3" action="ppaction://hlinkfile"/>
          </p:cNvPr>
          <p:cNvSpPr txBox="1"/>
          <p:nvPr/>
        </p:nvSpPr>
        <p:spPr>
          <a:xfrm>
            <a:off x="7701289" y="6189345"/>
            <a:ext cx="4130984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>
              <a:buClrTx/>
              <a:buSzTx/>
              <a:buFont typeface="Arial" panose="020B0604020202020204" pitchFamily="34" charset="0"/>
              <a:buNone/>
            </a:pPr>
            <a:r>
              <a:rPr kumimoji="1" lang="en-US" altLang="zh-CN" sz="2800" dirty="0">
                <a:ea typeface="等线" panose="02010600030101010101" charset="-122"/>
                <a:sym typeface="+mn-ea"/>
              </a:rPr>
              <a:t>   </a:t>
            </a:r>
            <a:r>
              <a:rPr kumimoji="1" lang="en-US" altLang="zh-CN" sz="2400" dirty="0">
                <a:ea typeface="等线" panose="02010600030101010101" charset="-122"/>
                <a:sym typeface="+mn-ea"/>
                <a:hlinkClick r:id="rId4" action="ppaction://hlinkfile"/>
              </a:rPr>
              <a:t>https://bcb.unl.edu/dbCAN2/</a:t>
            </a:r>
          </a:p>
        </p:txBody>
      </p:sp>
      <p:pic>
        <p:nvPicPr>
          <p:cNvPr id="8" name="Picture 7" descr="A screenshot of a web page&#10;&#10;AI-generated content may be incorrect.">
            <a:extLst>
              <a:ext uri="{FF2B5EF4-FFF2-40B4-BE49-F238E27FC236}">
                <a16:creationId xmlns:a16="http://schemas.microsoft.com/office/drawing/2014/main" id="{737203CF-4FA5-818E-1AFA-7186BA8065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165" y="4077730"/>
            <a:ext cx="5172485" cy="2476399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0657E1C-EB7D-081A-98C2-C3F09ABFD2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3843034"/>
            <a:ext cx="5827048" cy="201511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356583" y="804499"/>
            <a:ext cx="11478833" cy="569386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kumimoji="1" lang="en-US" altLang="zh-CN" sz="28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ea"/>
              </a:rPr>
              <a:t>Steps to Run </a:t>
            </a:r>
            <a:r>
              <a:rPr kumimoji="1" lang="en-US" altLang="zh-CN" sz="2800" dirty="0" err="1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ea"/>
              </a:rPr>
              <a:t>dbCAN</a:t>
            </a:r>
            <a:r>
              <a:rPr kumimoji="1" lang="en-US" altLang="zh-CN" sz="28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ea"/>
              </a:rPr>
              <a:t> CAZyme Annotation</a:t>
            </a:r>
            <a:endParaRPr kumimoji="1" lang="en-US" altLang="zh-CN" sz="2800" dirty="0"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r>
              <a:rPr kumimoji="1" lang="en-US" altLang="zh-CN" sz="28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   </a:t>
            </a:r>
          </a:p>
          <a:p>
            <a:endParaRPr kumimoji="1" lang="en-US" altLang="zh-CN" sz="2800" dirty="0"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kumimoji="1" lang="en-US" altLang="zh-CN" sz="28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Go to the website: </a:t>
            </a:r>
          </a:p>
          <a:p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  <a:p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kumimoji="1" lang="en-US" altLang="zh-CN" sz="28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Use </a:t>
            </a:r>
            <a:r>
              <a:rPr kumimoji="1" lang="en-US" altLang="zh-CN" sz="2800" dirty="0" err="1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wget</a:t>
            </a:r>
            <a:r>
              <a:rPr kumimoji="1" lang="en-US" altLang="zh-CN" sz="28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to download “</a:t>
            </a:r>
            <a:r>
              <a:rPr kumimoji="1" lang="en-US" altLang="zh-CN" sz="2400" b="0" i="0" dirty="0" err="1">
                <a:solidFill>
                  <a:schemeClr val="accent1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dbCAN.hmm</a:t>
            </a:r>
            <a:r>
              <a:rPr kumimoji="1" lang="en-US" altLang="zh-CN" sz="2800" b="0" i="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” and “</a:t>
            </a:r>
            <a:r>
              <a:rPr kumimoji="1" lang="en-US" altLang="zh-CN" sz="2800" b="0" i="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hlinkClick r:id="rId3"/>
              </a:rPr>
              <a:t>hmmscan-parser.sh</a:t>
            </a:r>
            <a:r>
              <a:rPr kumimoji="1" lang="en-US" altLang="zh-CN" sz="2800" b="0" i="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”</a:t>
            </a:r>
            <a:endParaRPr kumimoji="1" lang="en-US" altLang="zh-CN" sz="2800" dirty="0"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kumimoji="1" lang="en-US" altLang="zh-CN" sz="28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Use module load to activate </a:t>
            </a:r>
            <a:r>
              <a:rPr kumimoji="1" lang="en-US" altLang="zh-CN" sz="2800" dirty="0" err="1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hmmer</a:t>
            </a:r>
            <a:r>
              <a:rPr kumimoji="1" lang="en-US" altLang="zh-CN" sz="28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on swan.</a:t>
            </a:r>
          </a:p>
          <a:p>
            <a:pPr algn="l">
              <a:buClrTx/>
              <a:buSzTx/>
            </a:pPr>
            <a:endParaRPr kumimoji="1" lang="en-US" altLang="zh-CN" sz="2800" dirty="0"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algn="l">
              <a:buClrTx/>
              <a:buSzTx/>
            </a:pPr>
            <a:endParaRPr lang="en-GB" altLang="zh-CN" sz="2000" dirty="0">
              <a:latin typeface="Courier New" panose="02070309020205020404"/>
              <a:ea typeface="等线" panose="02010600030101010101" charset="-122"/>
              <a:cs typeface="Courier New" panose="02070309020205020404"/>
            </a:endParaRPr>
          </a:p>
          <a:p>
            <a:endParaRPr lang="en-GB" altLang="zh-CN" sz="2800" dirty="0"/>
          </a:p>
        </p:txBody>
      </p:sp>
      <p:sp>
        <p:nvSpPr>
          <p:cNvPr id="2" name="文本框 1"/>
          <p:cNvSpPr txBox="1"/>
          <p:nvPr/>
        </p:nvSpPr>
        <p:spPr>
          <a:xfrm>
            <a:off x="381635" y="172085"/>
            <a:ext cx="11751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2.1 - Domain Annotation of Protein Sequences Using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HMMER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and </a:t>
            </a:r>
            <a:r>
              <a:rPr lang="en-US" altLang="zh-CN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dbCAN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6ED64A-F3DE-4B9D-F241-BB7D141CA06D}"/>
              </a:ext>
            </a:extLst>
          </p:cNvPr>
          <p:cNvSpPr txBox="1"/>
          <p:nvPr/>
        </p:nvSpPr>
        <p:spPr>
          <a:xfrm>
            <a:off x="999744" y="5563111"/>
            <a:ext cx="19751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1800" dirty="0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ml </a:t>
            </a:r>
            <a:r>
              <a:rPr lang="en-GB" altLang="zh-CN" sz="1800" dirty="0" err="1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hmmer</a:t>
            </a:r>
            <a:r>
              <a:rPr lang="en-GB" altLang="zh-CN" sz="1800" dirty="0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/3.3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D4AFBF-4A53-C1B1-5034-00F3B2BBA00B}"/>
              </a:ext>
            </a:extLst>
          </p:cNvPr>
          <p:cNvSpPr txBox="1"/>
          <p:nvPr/>
        </p:nvSpPr>
        <p:spPr>
          <a:xfrm>
            <a:off x="999744" y="6029712"/>
            <a:ext cx="1865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1800" dirty="0" err="1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hmmbuild</a:t>
            </a:r>
            <a:r>
              <a:rPr lang="en-GB" altLang="zh-CN" sz="1800" dirty="0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 -h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DC353D-DF38-3D43-96A6-459C40505752}"/>
              </a:ext>
            </a:extLst>
          </p:cNvPr>
          <p:cNvSpPr txBox="1"/>
          <p:nvPr/>
        </p:nvSpPr>
        <p:spPr>
          <a:xfrm>
            <a:off x="3047999" y="602971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18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#To check if it works or not.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1D6FAA-5E99-DF16-0ABF-14CCC09E513D}"/>
              </a:ext>
            </a:extLst>
          </p:cNvPr>
          <p:cNvSpPr txBox="1"/>
          <p:nvPr/>
        </p:nvSpPr>
        <p:spPr>
          <a:xfrm>
            <a:off x="211264" y="3754356"/>
            <a:ext cx="126631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 err="1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wget</a:t>
            </a:r>
            <a:r>
              <a:rPr lang="en-US" altLang="zh-CN" sz="1600" dirty="0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 -O </a:t>
            </a:r>
            <a:r>
              <a:rPr lang="en-US" altLang="zh-CN" sz="1600" dirty="0" err="1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dbCAN.hmm</a:t>
            </a:r>
            <a:r>
              <a:rPr lang="en-US" altLang="zh-CN" sz="1600" dirty="0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 "https://</a:t>
            </a:r>
            <a:r>
              <a:rPr lang="en-US" altLang="zh-CN" sz="1600" dirty="0" err="1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pro.unl.edu</a:t>
            </a:r>
            <a:r>
              <a:rPr lang="en-US" altLang="zh-CN" sz="1600" dirty="0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/dbCAN2/</a:t>
            </a:r>
            <a:r>
              <a:rPr lang="en-US" altLang="zh-CN" sz="1600" dirty="0" err="1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download_file.php?file</a:t>
            </a:r>
            <a:r>
              <a:rPr lang="en-US" altLang="zh-CN" sz="1600" dirty="0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=</a:t>
            </a:r>
            <a:r>
              <a:rPr lang="en-US" altLang="zh-CN" sz="1600" dirty="0" err="1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run_dbCAN_database_total</a:t>
            </a:r>
            <a:r>
              <a:rPr lang="en-US" altLang="zh-CN" sz="1600" dirty="0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/</a:t>
            </a:r>
            <a:r>
              <a:rPr lang="en-US" altLang="zh-CN" sz="1600" dirty="0" err="1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db_current</a:t>
            </a:r>
            <a:r>
              <a:rPr lang="en-US" altLang="zh-CN" sz="1600" dirty="0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/</a:t>
            </a:r>
            <a:r>
              <a:rPr lang="en-US" altLang="zh-CN" sz="1600" dirty="0" err="1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dbCAN.hmm</a:t>
            </a:r>
            <a:r>
              <a:rPr lang="en-US" altLang="zh-CN" sz="1600" dirty="0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"</a:t>
            </a:r>
            <a:endParaRPr lang="en-US" sz="1600" dirty="0">
              <a:latin typeface="Courier New" panose="02070309020205020404"/>
              <a:ea typeface="等线" panose="02010600030101010101" charset="-122"/>
              <a:cs typeface="Courier New" panose="02070309020205020404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00FF94-86AA-C707-EBD9-5209F7F05E22}"/>
              </a:ext>
            </a:extLst>
          </p:cNvPr>
          <p:cNvSpPr txBox="1"/>
          <p:nvPr/>
        </p:nvSpPr>
        <p:spPr>
          <a:xfrm>
            <a:off x="211264" y="4307259"/>
            <a:ext cx="121261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 err="1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wget</a:t>
            </a:r>
            <a:r>
              <a:rPr lang="en-US" altLang="zh-CN" sz="1600" dirty="0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 https://</a:t>
            </a:r>
            <a:r>
              <a:rPr lang="en-US" altLang="zh-CN" sz="1600" dirty="0" err="1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pro.unl.edu</a:t>
            </a:r>
            <a:r>
              <a:rPr lang="en-US" altLang="zh-CN" sz="1600" dirty="0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/dbCAN2/</a:t>
            </a:r>
            <a:r>
              <a:rPr lang="en-US" altLang="zh-CN" sz="1600" dirty="0" err="1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download_file.php?file</a:t>
            </a:r>
            <a:r>
              <a:rPr lang="en-US" altLang="zh-CN" sz="1600" dirty="0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=Databases/</a:t>
            </a:r>
            <a:r>
              <a:rPr lang="en-US" altLang="zh-CN" sz="1600" dirty="0" err="1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dbCAN</a:t>
            </a:r>
            <a:r>
              <a:rPr lang="en-US" altLang="zh-CN" sz="1600" dirty="0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-old-UGA/</a:t>
            </a:r>
            <a:r>
              <a:rPr lang="en-US" altLang="zh-CN" sz="1600" dirty="0" err="1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hmmscan-parser.sh</a:t>
            </a:r>
            <a:r>
              <a:rPr lang="en-US" altLang="zh-CN" sz="1600" dirty="0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 -O </a:t>
            </a:r>
            <a:r>
              <a:rPr lang="en-US" altLang="zh-CN" sz="1600" dirty="0" err="1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hmmscan-parser.sh</a:t>
            </a:r>
            <a:endParaRPr lang="en-US" sz="1600" dirty="0">
              <a:latin typeface="Courier New" panose="02070309020205020404"/>
              <a:ea typeface="等线" panose="02010600030101010101" charset="-122"/>
              <a:cs typeface="Courier New" panose="0207030902020502040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DDF276-5B99-4870-CF92-4D416AB96FA6}"/>
              </a:ext>
            </a:extLst>
          </p:cNvPr>
          <p:cNvSpPr txBox="1"/>
          <p:nvPr/>
        </p:nvSpPr>
        <p:spPr>
          <a:xfrm>
            <a:off x="780288" y="2767584"/>
            <a:ext cx="94122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0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hlinkClick r:id="rId4"/>
              </a:rPr>
              <a:t>https://bcb.unl.edu/dbCAN2/download/Databases/dbCAN-old@UGA/</a:t>
            </a:r>
            <a:endParaRPr kumimoji="1" lang="en-US" altLang="zh-CN" sz="2000" dirty="0"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386B19-F49B-3B5C-65F5-D29A08F7D4B2}"/>
              </a:ext>
            </a:extLst>
          </p:cNvPr>
          <p:cNvSpPr txBox="1"/>
          <p:nvPr/>
        </p:nvSpPr>
        <p:spPr>
          <a:xfrm>
            <a:off x="780288" y="1519202"/>
            <a:ext cx="106093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  <a:hlinkClick r:id="rId5" action="ppaction://hlinkfile"/>
              </a:rPr>
              <a:t>https://pro.unl.edu/dbCAN2/browse_download.php?path=Databases/dbCAN-old-UGA/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  <a:hlinkClick r:id="rId5" action="ppaction://hlinkfile"/>
              </a:rPr>
              <a:t>readme.txt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hlinkClick r:id="rId5" action="ppaction://hlinkfile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5760629-0D2A-B201-892D-6340F89A4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30" y="2125873"/>
            <a:ext cx="12165470" cy="204209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9F576A9-0EF1-5AC5-9DAB-149CB172AE8C}"/>
              </a:ext>
            </a:extLst>
          </p:cNvPr>
          <p:cNvSpPr txBox="1"/>
          <p:nvPr/>
        </p:nvSpPr>
        <p:spPr>
          <a:xfrm>
            <a:off x="-140260" y="200980"/>
            <a:ext cx="72574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160338" algn="l">
              <a:buClrTx/>
              <a:buSzTx/>
              <a:buFont typeface="Arial" panose="020B0604020202020204" pitchFamily="34" charset="0"/>
              <a:buChar char="•"/>
            </a:pPr>
            <a:r>
              <a:rPr kumimoji="1" lang="en-US" altLang="zh-CN" sz="20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Then prepares the HMM database for faster searches: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919D050-5E9E-478C-C4DD-0A1E9BC3B243}"/>
              </a:ext>
            </a:extLst>
          </p:cNvPr>
          <p:cNvSpPr txBox="1"/>
          <p:nvPr/>
        </p:nvSpPr>
        <p:spPr>
          <a:xfrm>
            <a:off x="85038" y="1064649"/>
            <a:ext cx="128451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1600" dirty="0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cp </a:t>
            </a:r>
            <a:r>
              <a:rPr lang="en-US" altLang="zh-CN" sz="1600" dirty="0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../</a:t>
            </a:r>
            <a:r>
              <a:rPr kumimoji="1" lang="en-US" altLang="zh-CN" sz="1600" dirty="0">
                <a:latin typeface="Courier New" panose="02070309020205020404"/>
                <a:ea typeface="等线" panose="02010600030101010101" charset="-122"/>
                <a:cs typeface="Courier New" panose="02070309020205020404"/>
                <a:sym typeface="+mn-ea"/>
              </a:rPr>
              <a:t>course-project-1-Subfamily-classification-of-glycoside-hydrolase-family</a:t>
            </a:r>
            <a:r>
              <a:rPr lang="en-US" altLang="zh-CN" sz="1600" dirty="0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/</a:t>
            </a:r>
            <a:r>
              <a:rPr lang="en-US" altLang="zh-CN" sz="1600" dirty="0" err="1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hmmscan_run.slurm</a:t>
            </a:r>
            <a:r>
              <a:rPr lang="en-US" altLang="zh-CN" sz="1600" dirty="0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 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1A33C92-F183-1954-1B5D-BE31F9F22AC4}"/>
              </a:ext>
            </a:extLst>
          </p:cNvPr>
          <p:cNvSpPr txBox="1"/>
          <p:nvPr/>
        </p:nvSpPr>
        <p:spPr>
          <a:xfrm>
            <a:off x="45899" y="4732127"/>
            <a:ext cx="834993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Edit it using your own info.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Try smaller mem if the waiting time is too long.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Set error and output with the same path (in your part2 folder).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Add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email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to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remind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you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when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it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start/stop.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Remember</a:t>
            </a:r>
            <a:r>
              <a:rPr lang="zh-CN" altLang="en-US" sz="20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where</a:t>
            </a:r>
            <a:r>
              <a:rPr lang="zh-CN" altLang="en-US" sz="20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you</a:t>
            </a:r>
            <a:r>
              <a:rPr lang="zh-CN" altLang="en-US" sz="20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 have </a:t>
            </a:r>
            <a:r>
              <a:rPr lang="en-US" altLang="zh-CN" sz="20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your</a:t>
            </a:r>
            <a:r>
              <a:rPr lang="zh-CN" altLang="en-US" sz="20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 GH31 </a:t>
            </a:r>
            <a:r>
              <a:rPr lang="en-US" altLang="zh-CN" sz="20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protein</a:t>
            </a:r>
            <a:r>
              <a:rPr lang="zh-CN" altLang="en-US" sz="20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sequence</a:t>
            </a:r>
            <a:r>
              <a:rPr lang="zh-CN" altLang="en-US" sz="20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files.</a:t>
            </a:r>
            <a:endParaRPr lang="en-GB" altLang="zh-CN" sz="2000" dirty="0"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A4DB064-DB53-39D2-8438-3DC5225D0204}"/>
              </a:ext>
            </a:extLst>
          </p:cNvPr>
          <p:cNvGrpSpPr/>
          <p:nvPr/>
        </p:nvGrpSpPr>
        <p:grpSpPr>
          <a:xfrm>
            <a:off x="85038" y="2481512"/>
            <a:ext cx="11728289" cy="1667330"/>
            <a:chOff x="440164" y="1910301"/>
            <a:chExt cx="11319915" cy="1479138"/>
          </a:xfrm>
        </p:grpSpPr>
        <p:sp>
          <p:nvSpPr>
            <p:cNvPr id="32" name="文本框 8">
              <a:extLst>
                <a:ext uri="{FF2B5EF4-FFF2-40B4-BE49-F238E27FC236}">
                  <a16:creationId xmlns:a16="http://schemas.microsoft.com/office/drawing/2014/main" id="{4D6F085B-3FF8-3D25-427B-B2F54673E302}"/>
                </a:ext>
              </a:extLst>
            </p:cNvPr>
            <p:cNvSpPr txBox="1"/>
            <p:nvPr/>
          </p:nvSpPr>
          <p:spPr>
            <a:xfrm>
              <a:off x="9936141" y="1910301"/>
              <a:ext cx="1823938" cy="5733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>
                  <a:highlight>
                    <a:srgbClr val="FFFF00"/>
                  </a:highlight>
                  <a:cs typeface="+mn-lt"/>
                </a:rPr>
                <a:t>It takes  ~</a:t>
              </a:r>
              <a:r>
                <a:rPr kumimoji="1" lang="zh-CN" altLang="en-US" dirty="0">
                  <a:highlight>
                    <a:srgbClr val="FFFF00"/>
                  </a:highlight>
                  <a:cs typeface="+mn-lt"/>
                </a:rPr>
                <a:t> </a:t>
              </a:r>
              <a:r>
                <a:rPr kumimoji="1" lang="en-US" altLang="zh-CN" dirty="0">
                  <a:highlight>
                    <a:srgbClr val="FFFF00"/>
                  </a:highlight>
                  <a:cs typeface="+mn-lt"/>
                </a:rPr>
                <a:t>6.5 </a:t>
              </a:r>
              <a:r>
                <a:rPr kumimoji="1" lang="en-US" altLang="zh-CN" dirty="0" err="1">
                  <a:highlight>
                    <a:srgbClr val="FFFF00"/>
                  </a:highlight>
                  <a:cs typeface="+mn-lt"/>
                </a:rPr>
                <a:t>hrs</a:t>
              </a:r>
              <a:endParaRPr kumimoji="1" lang="en-US" altLang="zh-CN" dirty="0">
                <a:highlight>
                  <a:srgbClr val="FFFF00"/>
                </a:highlight>
                <a:cs typeface="+mn-lt"/>
              </a:endParaRPr>
            </a:p>
            <a:p>
              <a:endParaRPr kumimoji="1" lang="en-US" altLang="zh-CN" dirty="0">
                <a:highlight>
                  <a:srgbClr val="FFFF00"/>
                </a:highlight>
                <a:cs typeface="+mn-lt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C1117F1-6F46-4066-A6BD-55945C95E271}"/>
                </a:ext>
              </a:extLst>
            </p:cNvPr>
            <p:cNvSpPr/>
            <p:nvPr/>
          </p:nvSpPr>
          <p:spPr>
            <a:xfrm>
              <a:off x="1742215" y="2311134"/>
              <a:ext cx="4386110" cy="33904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AAFBBC7-C2EF-E296-630E-6DEDB40A4F4C}"/>
                </a:ext>
              </a:extLst>
            </p:cNvPr>
            <p:cNvSpPr/>
            <p:nvPr/>
          </p:nvSpPr>
          <p:spPr>
            <a:xfrm>
              <a:off x="2254399" y="2989390"/>
              <a:ext cx="419100" cy="26670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1532A92-80B9-5C08-1ED5-9B78095A7601}"/>
                </a:ext>
              </a:extLst>
            </p:cNvPr>
            <p:cNvSpPr/>
            <p:nvPr/>
          </p:nvSpPr>
          <p:spPr>
            <a:xfrm>
              <a:off x="4963305" y="2989391"/>
              <a:ext cx="6000017" cy="266699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F79C78E-F7FD-AF41-4D28-32CA3B37936D}"/>
                </a:ext>
              </a:extLst>
            </p:cNvPr>
            <p:cNvSpPr/>
            <p:nvPr/>
          </p:nvSpPr>
          <p:spPr>
            <a:xfrm>
              <a:off x="440164" y="3122740"/>
              <a:ext cx="419100" cy="266699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1678B8F-8AAF-0C37-95AC-6D374583B039}"/>
              </a:ext>
            </a:extLst>
          </p:cNvPr>
          <p:cNvSpPr txBox="1"/>
          <p:nvPr/>
        </p:nvSpPr>
        <p:spPr>
          <a:xfrm>
            <a:off x="85038" y="697817"/>
            <a:ext cx="5494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1800" dirty="0" err="1">
                <a:latin typeface="Courier New" panose="02070309020205020404" pitchFamily="49" charset="0"/>
                <a:ea typeface="等线" panose="02010600030101010101" charset="-122"/>
                <a:cs typeface="Courier New" panose="02070309020205020404" pitchFamily="49" charset="0"/>
              </a:rPr>
              <a:t>hmmpress</a:t>
            </a:r>
            <a:r>
              <a:rPr lang="en-GB" altLang="zh-CN" sz="1800" dirty="0">
                <a:latin typeface="Courier New" panose="02070309020205020404" pitchFamily="49" charset="0"/>
                <a:ea typeface="等线" panose="02010600030101010101" charset="-122"/>
                <a:cs typeface="Courier New" panose="02070309020205020404" pitchFamily="49" charset="0"/>
              </a:rPr>
              <a:t> </a:t>
            </a:r>
            <a:r>
              <a:rPr lang="en-US" altLang="zh-CN" dirty="0" err="1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dbCAN.hmm</a:t>
            </a:r>
            <a:endParaRPr lang="en-GB" altLang="zh-CN" sz="18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97EB91-7D57-7B65-141F-C9B402A3E50D}"/>
              </a:ext>
            </a:extLst>
          </p:cNvPr>
          <p:cNvSpPr txBox="1"/>
          <p:nvPr/>
        </p:nvSpPr>
        <p:spPr>
          <a:xfrm>
            <a:off x="85038" y="1462259"/>
            <a:ext cx="34034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nano </a:t>
            </a:r>
            <a:r>
              <a:rPr lang="en-US" altLang="zh-CN" sz="1800" dirty="0" err="1">
                <a:highlight>
                  <a:srgbClr val="00FFFF"/>
                </a:highlight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hmmscan_run.slurm</a:t>
            </a:r>
            <a:endParaRPr lang="en-US" altLang="zh-CN" sz="1800" dirty="0">
              <a:latin typeface="Courier New" panose="02070309020205020404"/>
              <a:ea typeface="等线" panose="02010600030101010101" charset="-122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B793883-6F3A-A73C-7DE6-AB469EE5368B}"/>
              </a:ext>
            </a:extLst>
          </p:cNvPr>
          <p:cNvSpPr txBox="1"/>
          <p:nvPr/>
        </p:nvSpPr>
        <p:spPr>
          <a:xfrm>
            <a:off x="241300" y="1640175"/>
            <a:ext cx="72263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4625" indent="-163513" algn="l">
              <a:buClrTx/>
              <a:buSzTx/>
              <a:buFont typeface="Arial" panose="020B0604020202020204" pitchFamily="34" charset="0"/>
              <a:buChar char="•"/>
            </a:pPr>
            <a:r>
              <a:rPr kumimoji="1" lang="en-US" altLang="zh-CN" sz="2000" dirty="0">
                <a:ea typeface="等线" panose="02010600030101010101" charset="-122"/>
              </a:rPr>
              <a:t>Run the following commands to make the result readable: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2E953F-F32B-EC57-E73C-1EF83B413085}"/>
              </a:ext>
            </a:extLst>
          </p:cNvPr>
          <p:cNvSpPr txBox="1"/>
          <p:nvPr/>
        </p:nvSpPr>
        <p:spPr>
          <a:xfrm>
            <a:off x="492125" y="2389999"/>
            <a:ext cx="9388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1800" dirty="0" err="1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sh</a:t>
            </a:r>
            <a:r>
              <a:rPr lang="en-GB" altLang="zh-CN" sz="1800" dirty="0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 </a:t>
            </a:r>
            <a:r>
              <a:rPr lang="en-GB" altLang="zh-CN" sz="1800" dirty="0" err="1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hmmscan-parser.sh</a:t>
            </a:r>
            <a:r>
              <a:rPr lang="en-GB" altLang="zh-CN" sz="1800" dirty="0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 gh31_hmmscan.out.dm &gt; gh31_hmmscan.out.dm.ps</a:t>
            </a:r>
            <a:endParaRPr lang="en-GB" altLang="zh-CN" dirty="0">
              <a:solidFill>
                <a:srgbClr val="000000"/>
              </a:solidFill>
              <a:latin typeface="Aptos Mono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A512D4-7CEA-8348-0D01-B942E6DD3213}"/>
              </a:ext>
            </a:extLst>
          </p:cNvPr>
          <p:cNvSpPr txBox="1"/>
          <p:nvPr/>
        </p:nvSpPr>
        <p:spPr>
          <a:xfrm>
            <a:off x="241300" y="3109045"/>
            <a:ext cx="98425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4625" indent="-163513" algn="l">
              <a:buClrTx/>
              <a:buSzTx/>
              <a:buFont typeface="Arial" panose="020B0604020202020204" pitchFamily="34" charset="0"/>
              <a:buChar char="•"/>
            </a:pPr>
            <a:r>
              <a:rPr kumimoji="1" lang="en-US" altLang="zh-CN" sz="2000" dirty="0">
                <a:ea typeface="等线" panose="02010600030101010101" charset="-122"/>
              </a:rPr>
              <a:t>And extract the final modules by filtering with E- Value &lt;1e-15 and coverage cut off &gt;0.35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35CD6D-ADD6-E008-163F-5A61B275851C}"/>
              </a:ext>
            </a:extLst>
          </p:cNvPr>
          <p:cNvSpPr txBox="1"/>
          <p:nvPr/>
        </p:nvSpPr>
        <p:spPr>
          <a:xfrm>
            <a:off x="492126" y="3839251"/>
            <a:ext cx="111261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1600" dirty="0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cat gh31_hmmscan.out.dm.ps | awk '$5&lt;1e-15&amp;&amp;$10&gt;0.35' &gt;</a:t>
            </a:r>
            <a:r>
              <a:rPr lang="zh-CN" altLang="en-US" sz="1600" dirty="0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 </a:t>
            </a:r>
            <a:r>
              <a:rPr lang="en-GB" altLang="zh-CN" sz="1600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gh31_hmmscan.out.dm.ps.stringent</a:t>
            </a:r>
            <a:endParaRPr lang="en-GB" altLang="zh-CN" sz="1600" dirty="0">
              <a:solidFill>
                <a:srgbClr val="000000"/>
              </a:solidFill>
              <a:latin typeface="Courier New" panose="02070309020205020404"/>
              <a:ea typeface="等线" panose="02010600030101010101" charset="-122"/>
              <a:cs typeface="Courier New" panose="02070309020205020404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E575171-46BA-2AAE-3436-98D8164BF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450" y="4837998"/>
            <a:ext cx="10273395" cy="127800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2634A4-0AAC-BBD9-34CE-F4650BD085DD}"/>
              </a:ext>
            </a:extLst>
          </p:cNvPr>
          <p:cNvSpPr txBox="1"/>
          <p:nvPr/>
        </p:nvSpPr>
        <p:spPr>
          <a:xfrm>
            <a:off x="492125" y="969322"/>
            <a:ext cx="38778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s</a:t>
            </a:r>
            <a:r>
              <a:rPr lang="en-US" altLang="zh-CN" sz="1800" dirty="0" err="1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batch</a:t>
            </a:r>
            <a:r>
              <a:rPr lang="en-US" altLang="zh-CN" sz="1800" dirty="0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 </a:t>
            </a:r>
            <a:r>
              <a:rPr lang="en-US" altLang="zh-CN" sz="1800" dirty="0" err="1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hmmscan_run.slurm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68E356-6420-DBB2-C040-1363AFE6C1C3}"/>
              </a:ext>
            </a:extLst>
          </p:cNvPr>
          <p:cNvSpPr txBox="1"/>
          <p:nvPr/>
        </p:nvSpPr>
        <p:spPr>
          <a:xfrm>
            <a:off x="247014" y="454560"/>
            <a:ext cx="6156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4625" indent="-163513" algn="l">
              <a:buClrTx/>
              <a:buSzTx/>
              <a:buFont typeface="Arial" panose="020B0604020202020204" pitchFamily="34" charset="0"/>
              <a:buChar char="•"/>
            </a:pPr>
            <a:r>
              <a:rPr kumimoji="1" lang="en-US" altLang="zh-CN" sz="1800" dirty="0">
                <a:ea typeface="等线" panose="02010600030101010101" charset="-122"/>
              </a:rPr>
              <a:t>Run the following commands to </a:t>
            </a:r>
            <a:r>
              <a:rPr kumimoji="1" lang="en-US" altLang="zh-CN" dirty="0">
                <a:ea typeface="等线" panose="02010600030101010101" charset="-122"/>
              </a:rPr>
              <a:t>submit the job</a:t>
            </a:r>
            <a:endParaRPr kumimoji="1" lang="en-US" altLang="zh-CN" sz="1800" dirty="0"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35208-A036-7C07-3883-814FC845E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C88D4D8D-566D-DEF4-AC20-E8363B9FE6B1}"/>
              </a:ext>
            </a:extLst>
          </p:cNvPr>
          <p:cNvSpPr txBox="1"/>
          <p:nvPr/>
        </p:nvSpPr>
        <p:spPr>
          <a:xfrm>
            <a:off x="1625600" y="3627378"/>
            <a:ext cx="81661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lrTx/>
              <a:buSzTx/>
              <a:buFont typeface="Arial" panose="020B0604020202020204" pitchFamily="34" charset="0"/>
            </a:pPr>
            <a:r>
              <a:rPr lang="zh-CN" altLang="en-US" sz="1600" b="0" i="0" dirty="0"/>
              <a:t>1. Family HMM </a:t>
            </a:r>
            <a:br>
              <a:rPr lang="zh-CN" altLang="en-US" sz="1600" b="0" i="0" dirty="0"/>
            </a:br>
            <a:r>
              <a:rPr lang="zh-CN" altLang="en-US" sz="1600" b="0" i="0" dirty="0"/>
              <a:t>2. HMM length </a:t>
            </a:r>
            <a:br>
              <a:rPr lang="zh-CN" altLang="en-US" sz="1600" b="0" i="0" dirty="0"/>
            </a:br>
            <a:r>
              <a:rPr lang="zh-CN" altLang="en-US" sz="1600" b="0" i="0" dirty="0"/>
              <a:t>3. Query ID </a:t>
            </a:r>
            <a:br>
              <a:rPr lang="zh-CN" altLang="en-US" sz="1600" b="0" i="0" dirty="0"/>
            </a:br>
            <a:r>
              <a:rPr lang="zh-CN" altLang="en-US" sz="1600" b="0" i="0" dirty="0"/>
              <a:t>4. Query length </a:t>
            </a:r>
            <a:br>
              <a:rPr lang="zh-CN" altLang="en-US" sz="1600" b="0" i="0" dirty="0"/>
            </a:br>
            <a:r>
              <a:rPr lang="zh-CN" altLang="en-US" sz="1600" b="0" i="0" dirty="0"/>
              <a:t>5. E-value: </a:t>
            </a:r>
            <a:r>
              <a:rPr lang="zh-CN" altLang="en-US" sz="1600" dirty="0">
                <a:sym typeface="+mn-ea"/>
              </a:rPr>
              <a:t>the similarity between the query sequence and the HMM family</a:t>
            </a:r>
            <a:r>
              <a:rPr lang="en-US" altLang="zh-CN" sz="1600" dirty="0">
                <a:sym typeface="+mn-ea"/>
              </a:rPr>
              <a:t> </a:t>
            </a:r>
          </a:p>
          <a:p>
            <a:pPr algn="l">
              <a:buClrTx/>
              <a:buSzTx/>
              <a:buFont typeface="Arial" panose="020B0604020202020204" pitchFamily="34" charset="0"/>
            </a:pPr>
            <a:r>
              <a:rPr lang="zh-CN" altLang="en-US" sz="1600" dirty="0">
                <a:sym typeface="+mn-ea"/>
              </a:rPr>
              <a:t>( Lower E-values mean higher similarity and more significant matches)</a:t>
            </a:r>
            <a:br>
              <a:rPr lang="zh-CN" altLang="en-US" sz="1600" b="0" i="0" dirty="0"/>
            </a:br>
            <a:r>
              <a:rPr lang="zh-CN" altLang="en-US" sz="1600" b="0" i="0" dirty="0"/>
              <a:t>6. HMM start </a:t>
            </a:r>
            <a:br>
              <a:rPr lang="zh-CN" altLang="en-US" sz="1600" b="0" i="0" dirty="0"/>
            </a:br>
            <a:r>
              <a:rPr lang="zh-CN" altLang="en-US" sz="1600" b="0" i="0" dirty="0"/>
              <a:t>7. HMM end </a:t>
            </a:r>
            <a:br>
              <a:rPr lang="zh-CN" altLang="en-US" sz="1600" b="0" i="0" dirty="0"/>
            </a:br>
            <a:r>
              <a:rPr lang="zh-CN" altLang="en-US" sz="1600" b="0" i="0" dirty="0"/>
              <a:t>8. Query start </a:t>
            </a:r>
            <a:br>
              <a:rPr lang="zh-CN" altLang="en-US" sz="1600" b="0" i="0" dirty="0"/>
            </a:br>
            <a:r>
              <a:rPr lang="zh-CN" altLang="en-US" sz="1600" b="0" i="0" dirty="0"/>
              <a:t>9. Query end </a:t>
            </a:r>
          </a:p>
          <a:p>
            <a:pPr algn="l">
              <a:buClrTx/>
              <a:buSzTx/>
              <a:buFont typeface="Arial" panose="020B0604020202020204" pitchFamily="34" charset="0"/>
            </a:pPr>
            <a:r>
              <a:rPr lang="zh-CN" altLang="en-US" sz="1600" b="0" i="0" dirty="0"/>
              <a:t>10. Coverage: </a:t>
            </a:r>
            <a:r>
              <a:rPr lang="en-US" altLang="zh-CN" sz="1600" b="0" i="0" dirty="0"/>
              <a:t>t</a:t>
            </a:r>
            <a:r>
              <a:rPr lang="zh-CN" altLang="en-US" sz="1600" dirty="0">
                <a:sym typeface="+mn-ea"/>
              </a:rPr>
              <a:t>he proportion of the HMM model that aligns with the query sequence, indicating </a:t>
            </a:r>
            <a:endParaRPr lang="en-US" altLang="zh-CN" sz="1600" dirty="0">
              <a:sym typeface="+mn-ea"/>
            </a:endParaRPr>
          </a:p>
          <a:p>
            <a:pPr algn="l">
              <a:buClrTx/>
              <a:buSzTx/>
              <a:buFont typeface="Arial" panose="020B0604020202020204" pitchFamily="34" charset="0"/>
            </a:pPr>
            <a:r>
              <a:rPr lang="zh-CN" altLang="en-US" sz="1600" dirty="0">
                <a:sym typeface="+mn-ea"/>
              </a:rPr>
              <a:t>how much of the model is covered by the match</a:t>
            </a:r>
            <a:endParaRPr lang="en-US" altLang="zh-CN" sz="1400" b="0" i="0" dirty="0">
              <a:solidFill>
                <a:srgbClr val="000000"/>
              </a:solidFill>
              <a:effectLst/>
              <a:latin typeface="WordVisiCarriageReturn_MSFontService"/>
            </a:endParaRPr>
          </a:p>
        </p:txBody>
      </p:sp>
      <p:pic>
        <p:nvPicPr>
          <p:cNvPr id="7" name="Picture 6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0B872374-D5AD-A318-2D83-46DF8FB9B5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458" y="819966"/>
            <a:ext cx="11505084" cy="254553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05F657A-D90A-D619-FEE8-15B3FBAD87EF}"/>
              </a:ext>
            </a:extLst>
          </p:cNvPr>
          <p:cNvSpPr txBox="1"/>
          <p:nvPr/>
        </p:nvSpPr>
        <p:spPr>
          <a:xfrm>
            <a:off x="212725" y="183634"/>
            <a:ext cx="60610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Columns in yourfile.out.dm.ps: 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5375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68399"/>
            <a:ext cx="9144000" cy="190976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</a:t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1350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Create your part_3 folder</a:t>
            </a:r>
          </a:p>
          <a:p>
            <a:r>
              <a:rPr lang="en-US" dirty="0" err="1">
                <a:ea typeface="Calibri" panose="020F0502020204030204"/>
                <a:cs typeface="Calibri" panose="020F0502020204030204"/>
              </a:rPr>
              <a:t>mkdir</a:t>
            </a:r>
            <a:r>
              <a:rPr lang="en-US" dirty="0">
                <a:ea typeface="Calibri" panose="020F0502020204030204"/>
                <a:cs typeface="Calibri" panose="020F0502020204030204"/>
              </a:rPr>
              <a:t> part_3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27316" y="412163"/>
            <a:ext cx="103755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3.1 - Extracting GH31 Domains Using Python and SeqKit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1A864A-9F0F-DE7F-55C0-405AF81CECFE}"/>
              </a:ext>
            </a:extLst>
          </p:cNvPr>
          <p:cNvSpPr txBox="1"/>
          <p:nvPr/>
        </p:nvSpPr>
        <p:spPr>
          <a:xfrm>
            <a:off x="246380" y="1409102"/>
            <a:ext cx="37623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8125" indent="-227013" algn="l">
              <a:buClrTx/>
              <a:buSzTx/>
              <a:buFont typeface="Arial" panose="020B0604020202020204" pitchFamily="34" charset="0"/>
              <a:buChar char="•"/>
            </a:pPr>
            <a:r>
              <a:rPr kumimoji="1" lang="en-US" altLang="zh-CN" sz="2000" b="1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First activate the </a:t>
            </a:r>
            <a:r>
              <a:rPr kumimoji="1" lang="en-US" altLang="zh-CN" sz="2000" b="1" dirty="0" err="1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biopython</a:t>
            </a:r>
            <a:r>
              <a:rPr kumimoji="1" lang="en-US" altLang="zh-CN" sz="2000" b="1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DA491A-57A2-19FA-9DCD-AF643B45D7C4}"/>
              </a:ext>
            </a:extLst>
          </p:cNvPr>
          <p:cNvSpPr txBox="1"/>
          <p:nvPr/>
        </p:nvSpPr>
        <p:spPr>
          <a:xfrm>
            <a:off x="785780" y="4674700"/>
            <a:ext cx="67689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  <a:sym typeface="+mn-ea"/>
              </a:rPr>
              <a:t>cp ../part_2/</a:t>
            </a:r>
            <a:r>
              <a:rPr lang="en-US" altLang="zh-CN" dirty="0">
                <a:solidFill>
                  <a:srgbClr val="000000"/>
                </a:solidFill>
                <a:highlight>
                  <a:srgbClr val="FF00FF"/>
                </a:highlight>
                <a:latin typeface="Courier New" panose="02070309020205020404"/>
                <a:ea typeface="等线" panose="02010600030101010101" charset="-122"/>
                <a:cs typeface="Courier New" panose="02070309020205020404"/>
                <a:sym typeface="+mn-ea"/>
              </a:rPr>
              <a:t>gh31</a:t>
            </a:r>
            <a:r>
              <a:rPr lang="en-US" altLang="zh-CN" dirty="0">
                <a:solidFill>
                  <a:srgbClr val="000000"/>
                </a:solidFill>
                <a:highlight>
                  <a:srgbClr val="FFFF00"/>
                </a:highlight>
                <a:latin typeface="Courier New" panose="02070309020205020404"/>
                <a:ea typeface="等线" panose="02010600030101010101" charset="-122"/>
                <a:cs typeface="Courier New" panose="02070309020205020404"/>
                <a:sym typeface="+mn-ea"/>
              </a:rPr>
              <a:t>_hmmscan.out.dm.ps.stringent 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9DBF72-2143-6BD9-4F56-9E509607BC60}"/>
              </a:ext>
            </a:extLst>
          </p:cNvPr>
          <p:cNvSpPr txBox="1"/>
          <p:nvPr/>
        </p:nvSpPr>
        <p:spPr>
          <a:xfrm>
            <a:off x="716280" y="2036709"/>
            <a:ext cx="34523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  <a:sym typeface="+mn-ea"/>
              </a:rPr>
              <a:t>ml </a:t>
            </a:r>
            <a:r>
              <a:rPr lang="en-US" altLang="zh-CN" dirty="0" err="1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  <a:sym typeface="+mn-ea"/>
              </a:rPr>
              <a:t>biopython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  <a:sym typeface="+mn-ea"/>
              </a:rPr>
              <a:t>/py311/1.81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AE239D-1775-E5EC-951B-B081D2BB3B75}"/>
              </a:ext>
            </a:extLst>
          </p:cNvPr>
          <p:cNvSpPr txBox="1"/>
          <p:nvPr/>
        </p:nvSpPr>
        <p:spPr>
          <a:xfrm>
            <a:off x="510988" y="2844225"/>
            <a:ext cx="88750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Courier New" panose="02070309020205020404"/>
                <a:ea typeface="等线" panose="02010600030101010101" charset="-122"/>
                <a:cs typeface="Courier New" panose="02070309020205020404"/>
                <a:sym typeface="+mn-ea"/>
              </a:rPr>
              <a:t>cp ../course-project-1-Subfamily-classification-of-glycoside-hydrolase-family/</a:t>
            </a:r>
            <a:r>
              <a:rPr lang="en-US" sz="1600" dirty="0" err="1">
                <a:highlight>
                  <a:srgbClr val="00FFFF"/>
                </a:highlight>
                <a:latin typeface="Courier New" panose="02070309020205020404"/>
                <a:ea typeface="等线" panose="02010600030101010101" charset="-122"/>
                <a:cs typeface="Courier New" panose="02070309020205020404"/>
                <a:sym typeface="+mn-ea"/>
              </a:rPr>
              <a:t>filter_modules.py</a:t>
            </a:r>
            <a:r>
              <a:rPr lang="en-US" sz="1600" dirty="0">
                <a:latin typeface="Courier New" panose="02070309020205020404"/>
                <a:ea typeface="等线" panose="02010600030101010101" charset="-122"/>
                <a:cs typeface="Courier New" panose="02070309020205020404"/>
                <a:sym typeface="+mn-ea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  <a:sym typeface="+mn-ea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1A15EF-65FC-C19B-2379-60599BBA8EB5}"/>
              </a:ext>
            </a:extLst>
          </p:cNvPr>
          <p:cNvSpPr txBox="1"/>
          <p:nvPr/>
        </p:nvSpPr>
        <p:spPr>
          <a:xfrm>
            <a:off x="785780" y="3867184"/>
            <a:ext cx="6114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  <a:sym typeface="+mn-ea"/>
              </a:rPr>
              <a:t>cp ../part_1/</a:t>
            </a:r>
            <a:r>
              <a:rPr lang="en-US" altLang="zh-CN" dirty="0" err="1">
                <a:solidFill>
                  <a:srgbClr val="000000"/>
                </a:solidFill>
                <a:highlight>
                  <a:srgbClr val="FFFF00"/>
                </a:highlight>
                <a:latin typeface="Courier New" panose="02070309020205020404"/>
                <a:ea typeface="等线" panose="02010600030101010101" charset="-122"/>
                <a:cs typeface="Courier New" panose="02070309020205020404"/>
                <a:sym typeface="+mn-ea"/>
              </a:rPr>
              <a:t>batch_protein_sequences.fasta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  <a:sym typeface="+mn-ea"/>
              </a:rPr>
              <a:t> 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F5A00-C62C-EFE7-95F3-3287EE343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1603170-9D00-BCD7-DF07-0691104E7198}"/>
              </a:ext>
            </a:extLst>
          </p:cNvPr>
          <p:cNvSpPr txBox="1"/>
          <p:nvPr/>
        </p:nvSpPr>
        <p:spPr>
          <a:xfrm>
            <a:off x="127316" y="0"/>
            <a:ext cx="103755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3.1 - Extracting GH31 Domains Using Python and SeqKit</a:t>
            </a:r>
          </a:p>
        </p:txBody>
      </p:sp>
      <p:sp>
        <p:nvSpPr>
          <p:cNvPr id="20" name="文本框 3">
            <a:extLst>
              <a:ext uri="{FF2B5EF4-FFF2-40B4-BE49-F238E27FC236}">
                <a16:creationId xmlns:a16="http://schemas.microsoft.com/office/drawing/2014/main" id="{91A42352-BC2D-9178-35FF-F1663643D15B}"/>
              </a:ext>
            </a:extLst>
          </p:cNvPr>
          <p:cNvSpPr txBox="1"/>
          <p:nvPr/>
        </p:nvSpPr>
        <p:spPr>
          <a:xfrm>
            <a:off x="127316" y="2901444"/>
            <a:ext cx="3428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6862" indent="-285750" algn="ctr">
              <a:buClrTx/>
              <a:buSzTx/>
              <a:buFont typeface="Wingdings" pitchFamily="2" charset="2"/>
              <a:buChar char="ü"/>
            </a:pPr>
            <a:r>
              <a:rPr lang="en-US" altLang="zh-CN" dirty="0">
                <a:solidFill>
                  <a:srgbClr val="000000"/>
                </a:solidFill>
                <a:ea typeface="等线" panose="02010600030101010101" charset="-122"/>
                <a:cs typeface="+mn-lt"/>
                <a:sym typeface="+mn-ea"/>
              </a:rPr>
              <a:t>Change the </a:t>
            </a:r>
            <a:r>
              <a:rPr lang="en-US" altLang="zh-CN" b="1" dirty="0">
                <a:solidFill>
                  <a:srgbClr val="000000"/>
                </a:solidFill>
                <a:ea typeface="等线" panose="02010600030101010101" charset="-122"/>
                <a:cs typeface="+mn-lt"/>
                <a:sym typeface="+mn-ea"/>
              </a:rPr>
              <a:t>the family name</a:t>
            </a:r>
            <a:r>
              <a:rPr lang="en-US" altLang="zh-CN" dirty="0">
                <a:solidFill>
                  <a:srgbClr val="000000"/>
                </a:solidFill>
                <a:ea typeface="等线" panose="02010600030101010101" charset="-122"/>
                <a:cs typeface="+mn-lt"/>
                <a:sym typeface="+mn-ea"/>
              </a:rPr>
              <a:t> in           </a:t>
            </a:r>
            <a:r>
              <a:rPr lang="en-US" altLang="zh-CN" dirty="0" err="1">
                <a:solidFill>
                  <a:srgbClr val="000000"/>
                </a:solidFill>
                <a:ea typeface="等线" panose="02010600030101010101" charset="-122"/>
                <a:cs typeface="+mn-lt"/>
                <a:sym typeface="+mn-ea"/>
              </a:rPr>
              <a:t>filter_modules.py</a:t>
            </a:r>
            <a:endParaRPr lang="en-US" altLang="zh-CN" dirty="0">
              <a:solidFill>
                <a:srgbClr val="000000"/>
              </a:solidFill>
              <a:ea typeface="等线" panose="02010600030101010101" charset="-122"/>
              <a:cs typeface="+mn-lt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47BE7D-21A6-8D3D-B3E9-EA083972A89F}"/>
              </a:ext>
            </a:extLst>
          </p:cNvPr>
          <p:cNvSpPr txBox="1"/>
          <p:nvPr/>
        </p:nvSpPr>
        <p:spPr>
          <a:xfrm>
            <a:off x="51889" y="5354190"/>
            <a:ext cx="463187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tx1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  <a:sym typeface="+mn-ea"/>
              </a:rPr>
              <a:t>seqkit sample -p 0.2 </a:t>
            </a:r>
            <a:r>
              <a:rPr lang="en-US" altLang="zh-CN" sz="1600" dirty="0" err="1">
                <a:solidFill>
                  <a:schemeClr val="tx1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  <a:sym typeface="+mn-ea"/>
              </a:rPr>
              <a:t>extracted_domains.faa</a:t>
            </a:r>
            <a:r>
              <a:rPr lang="en-US" altLang="zh-CN" sz="1600" dirty="0">
                <a:solidFill>
                  <a:schemeClr val="tx1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  <a:sym typeface="+mn-ea"/>
              </a:rPr>
              <a:t>  -o </a:t>
            </a:r>
            <a:r>
              <a:rPr lang="en-US" altLang="zh-CN" sz="1600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/>
                <a:ea typeface="等线" panose="02010600030101010101" charset="-122"/>
                <a:cs typeface="Courier New" panose="02070309020205020404"/>
                <a:sym typeface="+mn-ea"/>
              </a:rPr>
              <a:t>random_selected_extracted_domains_02.faa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403A00-E338-0E20-6C3D-17EA9C5AB5CE}"/>
              </a:ext>
            </a:extLst>
          </p:cNvPr>
          <p:cNvSpPr txBox="1"/>
          <p:nvPr/>
        </p:nvSpPr>
        <p:spPr>
          <a:xfrm>
            <a:off x="51889" y="1647232"/>
            <a:ext cx="46318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  <a:sym typeface="+mn-ea"/>
              </a:rPr>
              <a:t>nano </a:t>
            </a:r>
            <a:r>
              <a:rPr lang="en-US" sz="1800" dirty="0" err="1">
                <a:latin typeface="Courier New" panose="02070309020205020404"/>
                <a:ea typeface="等线" panose="02010600030101010101" charset="-122"/>
                <a:cs typeface="Courier New" panose="02070309020205020404"/>
                <a:sym typeface="+mn-ea"/>
              </a:rPr>
              <a:t>filter_modules.py</a:t>
            </a:r>
            <a:endParaRPr lang="en-US" altLang="zh-CN" sz="1800" dirty="0">
              <a:solidFill>
                <a:srgbClr val="000000"/>
              </a:solidFill>
              <a:latin typeface="Courier New" panose="02070309020205020404"/>
              <a:ea typeface="等线" panose="02010600030101010101" charset="-122"/>
              <a:cs typeface="Courier New" panose="02070309020205020404"/>
              <a:sym typeface="+mn-ea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6A3D1F2-7FCB-B49F-F5D9-83A641027FAC}"/>
              </a:ext>
            </a:extLst>
          </p:cNvPr>
          <p:cNvGrpSpPr/>
          <p:nvPr/>
        </p:nvGrpSpPr>
        <p:grpSpPr>
          <a:xfrm>
            <a:off x="3556001" y="952501"/>
            <a:ext cx="8508683" cy="5816336"/>
            <a:chOff x="3556001" y="952501"/>
            <a:chExt cx="8508683" cy="5816336"/>
          </a:xfrm>
        </p:grpSpPr>
        <p:pic>
          <p:nvPicPr>
            <p:cNvPr id="22" name="Picture 21" descr="A computer screen shot of a computer code&#10;&#10;AI-generated content may be incorrect.">
              <a:extLst>
                <a:ext uri="{FF2B5EF4-FFF2-40B4-BE49-F238E27FC236}">
                  <a16:creationId xmlns:a16="http://schemas.microsoft.com/office/drawing/2014/main" id="{4B90A6D8-BA6D-3674-AFB6-4E243FC192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64100" y="952501"/>
              <a:ext cx="7200584" cy="5816336"/>
            </a:xfrm>
            <a:prstGeom prst="rect">
              <a:avLst/>
            </a:prstGeom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FDCB946F-ACB7-03D4-90E6-20864AF7BD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56001" y="1967214"/>
              <a:ext cx="1600199" cy="127503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701F1A7-C820-C40E-10C7-2F56D3E309C1}"/>
                </a:ext>
              </a:extLst>
            </p:cNvPr>
            <p:cNvSpPr/>
            <p:nvPr/>
          </p:nvSpPr>
          <p:spPr>
            <a:xfrm>
              <a:off x="4862447" y="1701799"/>
              <a:ext cx="903353" cy="26541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DA73582-6F02-1690-9AC4-DE2FC0F99C3F}"/>
                </a:ext>
              </a:extLst>
            </p:cNvPr>
            <p:cNvSpPr/>
            <p:nvPr/>
          </p:nvSpPr>
          <p:spPr>
            <a:xfrm>
              <a:off x="5395847" y="2145725"/>
              <a:ext cx="2071753" cy="18921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AF0C00D-614E-3900-FB54-3E549BE56AC4}"/>
                </a:ext>
              </a:extLst>
            </p:cNvPr>
            <p:cNvSpPr/>
            <p:nvPr/>
          </p:nvSpPr>
          <p:spPr>
            <a:xfrm>
              <a:off x="6538847" y="5536625"/>
              <a:ext cx="2376553" cy="35617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2797862-D62A-0EF7-E28C-9571E5ACAA12}"/>
                </a:ext>
              </a:extLst>
            </p:cNvPr>
            <p:cNvSpPr/>
            <p:nvPr/>
          </p:nvSpPr>
          <p:spPr>
            <a:xfrm>
              <a:off x="7123047" y="6283809"/>
              <a:ext cx="2071753" cy="35617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3D8DB32-292F-ADF9-4C42-C0C70B106F63}"/>
              </a:ext>
            </a:extLst>
          </p:cNvPr>
          <p:cNvSpPr txBox="1"/>
          <p:nvPr/>
        </p:nvSpPr>
        <p:spPr>
          <a:xfrm>
            <a:off x="127316" y="3922401"/>
            <a:ext cx="46318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  <a:sym typeface="+mn-ea"/>
              </a:rPr>
              <a:t>python </a:t>
            </a:r>
            <a:r>
              <a:rPr lang="en-US" sz="1600" dirty="0" err="1">
                <a:latin typeface="Courier New" panose="02070309020205020404"/>
                <a:ea typeface="等线" panose="02010600030101010101" charset="-122"/>
                <a:cs typeface="Courier New" panose="02070309020205020404"/>
                <a:sym typeface="+mn-ea"/>
              </a:rPr>
              <a:t>filter_modules.py</a:t>
            </a:r>
            <a:r>
              <a:rPr lang="en-US" altLang="zh-CN" sz="1600" dirty="0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  <a:sym typeface="+mn-ea"/>
              </a:rPr>
              <a:t> &gt; </a:t>
            </a:r>
            <a:r>
              <a:rPr lang="en-US" altLang="zh-CN" sz="1600" dirty="0" err="1">
                <a:solidFill>
                  <a:schemeClr val="tx1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  <a:sym typeface="+mn-ea"/>
              </a:rPr>
              <a:t>extracted_domains.faa</a:t>
            </a:r>
            <a:endParaRPr lang="en-US" altLang="zh-CN" sz="1600" dirty="0">
              <a:solidFill>
                <a:srgbClr val="FF0000"/>
              </a:solidFill>
              <a:highlight>
                <a:srgbClr val="FFFF00"/>
              </a:highlight>
              <a:latin typeface="Courier New" panose="02070309020205020404"/>
              <a:ea typeface="等线" panose="02010600030101010101" charset="-122"/>
              <a:cs typeface="Courier New" panose="02070309020205020404"/>
              <a:sym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C582BD-191F-44EC-910F-59D3306235AF}"/>
              </a:ext>
            </a:extLst>
          </p:cNvPr>
          <p:cNvSpPr txBox="1"/>
          <p:nvPr/>
        </p:nvSpPr>
        <p:spPr>
          <a:xfrm>
            <a:off x="127316" y="4773456"/>
            <a:ext cx="16631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Courier New" panose="02070309020205020404"/>
                <a:ea typeface="等线" panose="02010600030101010101" charset="-122"/>
                <a:cs typeface="Courier New" panose="02070309020205020404"/>
                <a:sym typeface="+mn-ea"/>
              </a:rPr>
              <a:t>ml</a:t>
            </a:r>
            <a:r>
              <a:rPr lang="en-US" altLang="zh-CN" sz="1800" dirty="0">
                <a:solidFill>
                  <a:schemeClr val="tx1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  <a:sym typeface="+mn-ea"/>
              </a:rPr>
              <a:t> seqkit</a:t>
            </a:r>
          </a:p>
        </p:txBody>
      </p:sp>
    </p:spTree>
    <p:extLst>
      <p:ext uri="{BB962C8B-B14F-4D97-AF65-F5344CB8AC3E}">
        <p14:creationId xmlns:p14="http://schemas.microsoft.com/office/powerpoint/2010/main" val="36398116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等线 Light" panose="02010600030101010101" charset="-122"/>
                <a:cs typeface="Times New Roman" panose="02020603050405020304" pitchFamily="18" charset="0"/>
              </a:rPr>
              <a:t>Part</a:t>
            </a:r>
            <a:r>
              <a:rPr lang="zh-CN" altLang="en-US" dirty="0">
                <a:latin typeface="Times New Roman" panose="02020603050405020304" pitchFamily="18" charset="0"/>
                <a:ea typeface="等线 Light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等线 Light" panose="02010600030101010101" charset="-122"/>
                <a:cs typeface="Times New Roman" panose="02020603050405020304" pitchFamily="18" charset="0"/>
              </a:rPr>
              <a:t>IV</a:t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  <a:ea typeface="等线 Light" panose="02010600030101010101" charset="-122"/>
                <a:cs typeface="Times New Roman" panose="02020603050405020304" pitchFamily="18" charset="0"/>
              </a:rPr>
              <a:t>Sequence similarity networks (</a:t>
            </a:r>
            <a:r>
              <a:rPr lang="en-US" altLang="zh-CN" dirty="0" err="1">
                <a:latin typeface="Times New Roman" panose="02020603050405020304" pitchFamily="18" charset="0"/>
                <a:ea typeface="等线 Light" panose="02010600030101010101" charset="-122"/>
                <a:cs typeface="Times New Roman" panose="02020603050405020304" pitchFamily="18" charset="0"/>
              </a:rPr>
              <a:t>SSNpipe</a:t>
            </a:r>
            <a:r>
              <a:rPr lang="en-US" altLang="zh-CN" dirty="0">
                <a:latin typeface="Times New Roman" panose="02020603050405020304" pitchFamily="18" charset="0"/>
                <a:ea typeface="等线 Light" panose="02010600030101010101" charset="-122"/>
                <a:cs typeface="Times New Roman" panose="02020603050405020304" pitchFamily="18" charset="0"/>
              </a:rPr>
              <a:t>) 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87800"/>
            <a:ext cx="9144000" cy="754062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Create your part_4 folder</a:t>
            </a:r>
          </a:p>
          <a:p>
            <a:r>
              <a:rPr lang="en-US" dirty="0" err="1">
                <a:ea typeface="+mn-lt"/>
                <a:cs typeface="+mn-lt"/>
              </a:rPr>
              <a:t>mkdir</a:t>
            </a:r>
            <a:r>
              <a:rPr lang="en-US" dirty="0">
                <a:ea typeface="+mn-lt"/>
                <a:cs typeface="+mn-lt"/>
              </a:rPr>
              <a:t> part_4</a:t>
            </a: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629025" y="5165725"/>
            <a:ext cx="6086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Id2" action="ppaction://hlinkfile"/>
              </a:rPr>
              <a:t>https://github.com/MiguelMSandin/SSNetworks</a:t>
            </a:r>
            <a:endParaRPr lang="zh-CN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639" y="2977333"/>
            <a:ext cx="9266121" cy="3621411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48989" y="22566"/>
            <a:ext cx="90652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4.1 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 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Setup and Execution of </a:t>
            </a:r>
            <a:r>
              <a:rPr lang="en-US" altLang="zh-CN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SSNpipe</a:t>
            </a:r>
            <a:endParaRPr lang="en-US" altLang="zh-C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686CC0-E2B2-E8DB-5687-A59D965B479D}"/>
              </a:ext>
            </a:extLst>
          </p:cNvPr>
          <p:cNvSpPr txBox="1"/>
          <p:nvPr/>
        </p:nvSpPr>
        <p:spPr>
          <a:xfrm>
            <a:off x="124494" y="1192242"/>
            <a:ext cx="119430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en-US" sz="1800" dirty="0" err="1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wget</a:t>
            </a:r>
            <a:r>
              <a:rPr lang="en-US" sz="1800" dirty="0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 </a:t>
            </a:r>
            <a:r>
              <a:rPr lang="en-US" sz="1800" dirty="0">
                <a:latin typeface="Courier New" panose="02070309020205020404"/>
                <a:ea typeface="等线" panose="02010600030101010101" charset="-122"/>
                <a:cs typeface="Courier New" panose="02070309020205020404"/>
                <a:hlinkClick r:id="rId3"/>
              </a:rPr>
              <a:t>https://github.com/ahvdk/SSNpipe/releases/download/v.1.0-beta/ssnpipe_unix.tar.gz</a:t>
            </a:r>
            <a:endParaRPr lang="en-US" sz="1800" dirty="0">
              <a:latin typeface="Courier New" panose="02070309020205020404"/>
              <a:ea typeface="等线" panose="02010600030101010101" charset="-122"/>
              <a:cs typeface="Courier New" panose="0207030902020502040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630F77-1796-CDD2-0CAF-1F08BDE2DA95}"/>
              </a:ext>
            </a:extLst>
          </p:cNvPr>
          <p:cNvSpPr txBox="1"/>
          <p:nvPr/>
        </p:nvSpPr>
        <p:spPr>
          <a:xfrm>
            <a:off x="248989" y="758522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Create the part_4 folder and use </a:t>
            </a:r>
            <a:r>
              <a:rPr lang="en-US" altLang="zh-CN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wget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to download :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C26E7F-892D-7EE7-8128-73461E00B6A4}"/>
              </a:ext>
            </a:extLst>
          </p:cNvPr>
          <p:cNvSpPr txBox="1"/>
          <p:nvPr/>
        </p:nvSpPr>
        <p:spPr>
          <a:xfrm>
            <a:off x="248989" y="2054010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Go to </a:t>
            </a:r>
            <a:r>
              <a:rPr lang="en-US" altLang="zh-CN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ondemand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and click the “Interactive Apps”.</a:t>
            </a: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Set as the next slide.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F2A336-6C69-E9F8-1010-ECFDB84A1A6B}"/>
              </a:ext>
            </a:extLst>
          </p:cNvPr>
          <p:cNvSpPr txBox="1"/>
          <p:nvPr/>
        </p:nvSpPr>
        <p:spPr>
          <a:xfrm>
            <a:off x="149699" y="15615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en-US" sz="1800" dirty="0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tar -</a:t>
            </a:r>
            <a:r>
              <a:rPr lang="en-US" sz="1800" dirty="0" err="1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xvf</a:t>
            </a:r>
            <a:r>
              <a:rPr lang="en-US" sz="1800" dirty="0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 </a:t>
            </a:r>
            <a:r>
              <a:rPr lang="en-US" sz="1800" dirty="0" err="1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ssnpipe_unix.tar.gz</a:t>
            </a:r>
            <a:endParaRPr lang="en-US" sz="1800" dirty="0">
              <a:latin typeface="Courier New" panose="02070309020205020404"/>
              <a:ea typeface="等线" panose="02010600030101010101" charset="-122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4430" y="3042975"/>
            <a:ext cx="6063701" cy="381502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190" y="109220"/>
            <a:ext cx="4681855" cy="64160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3660" y="109220"/>
            <a:ext cx="6821170" cy="287337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77470" y="710565"/>
            <a:ext cx="6247130" cy="526297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Click the file manager and change the path into part_4 (Don’t use copy paste here).</a:t>
            </a: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Move to the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ssnpipe</a:t>
            </a:r>
            <a:r>
              <a:rPr kumimoji="1" lang="en-US" altLang="zh-CN" sz="24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folder.</a:t>
            </a: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Click the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SSNpipe</a:t>
            </a:r>
            <a:r>
              <a:rPr kumimoji="1" lang="en-US" altLang="zh-CN" sz="24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(GUI tool).</a:t>
            </a: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endParaRPr kumimoji="1" lang="en-US" altLang="zh-CN" sz="2400" dirty="0"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The FASTA file will use the </a:t>
            </a:r>
            <a:r>
              <a:rPr kumimoji="1" lang="en-US" altLang="zh-CN" sz="24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ea"/>
              </a:rPr>
              <a:t>random_selected_extracted_domains_02.faa</a:t>
            </a:r>
            <a:r>
              <a:rPr kumimoji="1" lang="en-US" altLang="zh-CN" sz="24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, and choose part_4 folder as the results folder.</a:t>
            </a: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endParaRPr kumimoji="1" lang="en-US" altLang="zh-CN" sz="2400" dirty="0"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E-value: Minimum: 0 Maximum: 140 Steps: 5</a:t>
            </a: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endParaRPr kumimoji="1" lang="en-US" altLang="zh-CN" sz="2400" dirty="0"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Click on </a:t>
            </a:r>
            <a:r>
              <a:rPr kumimoji="1" lang="en-US" altLang="zh-CN" sz="2400" b="1" dirty="0" err="1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Cytoscape</a:t>
            </a:r>
            <a:r>
              <a:rPr kumimoji="1" lang="en-US" altLang="zh-CN" sz="2400" b="1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and Generate SSNs,</a:t>
            </a:r>
            <a:r>
              <a:rPr kumimoji="1" lang="en-US" altLang="zh-CN" sz="24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the program will run for a few hours depending on the database size and computational power. 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8600" y="607568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ea"/>
              </a:rPr>
              <a:t>It takes about ~40 mins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6324600" y="885190"/>
            <a:ext cx="5293360" cy="3465195"/>
            <a:chOff x="9837" y="845"/>
            <a:chExt cx="8884" cy="6194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37" y="845"/>
              <a:ext cx="8885" cy="6195"/>
            </a:xfrm>
            <a:prstGeom prst="rect">
              <a:avLst/>
            </a:prstGeom>
          </p:spPr>
        </p:pic>
        <p:sp>
          <p:nvSpPr>
            <p:cNvPr id="7" name="矩形 6"/>
            <p:cNvSpPr/>
            <p:nvPr/>
          </p:nvSpPr>
          <p:spPr>
            <a:xfrm>
              <a:off x="12050" y="4919"/>
              <a:ext cx="1337" cy="1251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248285" y="0"/>
            <a:ext cx="113703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4.2 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 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Setup and Execution of </a:t>
            </a:r>
            <a:r>
              <a:rPr lang="en-US" altLang="zh-CN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SSNpipe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Create SSNs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8720" y="2895600"/>
            <a:ext cx="3435810" cy="3898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1150F5-B1E2-1A50-FF0D-7A820EEB10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9999" y="2863850"/>
            <a:ext cx="3493252" cy="39624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9610A-FF31-1745-2B08-9B1D159FA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6A7697E-1A33-6EDF-F306-E854E463E5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9296" y="583713"/>
            <a:ext cx="4142704" cy="629357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460F182-0ED3-5380-CDB9-B8D14900ACAC}"/>
              </a:ext>
            </a:extLst>
          </p:cNvPr>
          <p:cNvSpPr txBox="1"/>
          <p:nvPr/>
        </p:nvSpPr>
        <p:spPr>
          <a:xfrm>
            <a:off x="77470" y="710565"/>
            <a:ext cx="6247130" cy="526297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Click the file manager and change the path into part_4 (Don’t use copy paste here).</a:t>
            </a: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Move to the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ssnpipe</a:t>
            </a:r>
            <a:r>
              <a:rPr kumimoji="1" lang="en-US" altLang="zh-CN" sz="24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folder.</a:t>
            </a: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Click the </a:t>
            </a:r>
            <a:r>
              <a:rPr kumimoji="1" lang="en-US" altLang="zh-CN" sz="2400" dirty="0" err="1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SSNpipe</a:t>
            </a:r>
            <a:r>
              <a:rPr kumimoji="1" lang="en-US" altLang="zh-CN" sz="24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(GUI tool).</a:t>
            </a: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endParaRPr kumimoji="1" lang="en-US" altLang="zh-CN" sz="2400" dirty="0"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The FASTA file will use the </a:t>
            </a:r>
            <a:r>
              <a:rPr kumimoji="1" lang="en-US" altLang="zh-CN" sz="24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ea"/>
              </a:rPr>
              <a:t>random_selected_extracted_domains_02.faa</a:t>
            </a:r>
            <a:r>
              <a:rPr kumimoji="1" lang="en-US" altLang="zh-CN" sz="24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, and choose part_4 folder as the results folder.</a:t>
            </a: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endParaRPr kumimoji="1" lang="en-US" altLang="zh-CN" sz="2400" dirty="0"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E-value: Minimum: 0 Maximum: 140 Steps: 5</a:t>
            </a: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endParaRPr kumimoji="1" lang="en-US" altLang="zh-CN" sz="2400" dirty="0"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Click on </a:t>
            </a:r>
            <a:r>
              <a:rPr kumimoji="1" lang="en-US" altLang="zh-CN" sz="2400" b="1" dirty="0" err="1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Cytoscape</a:t>
            </a:r>
            <a:r>
              <a:rPr kumimoji="1" lang="en-US" altLang="zh-CN" sz="2400" b="1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and Generate SSNs,</a:t>
            </a:r>
            <a:r>
              <a:rPr kumimoji="1" lang="en-US" altLang="zh-CN" sz="24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the program will run for a few hours depending on the database size and computational power. 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6859084-C070-38C8-8A3C-AA134E928104}"/>
              </a:ext>
            </a:extLst>
          </p:cNvPr>
          <p:cNvSpPr txBox="1"/>
          <p:nvPr/>
        </p:nvSpPr>
        <p:spPr>
          <a:xfrm>
            <a:off x="228600" y="607568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ea"/>
              </a:rPr>
              <a:t>It takes about ~40 mins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64FE25F-65FE-7B2F-9C04-4C4622BDD23C}"/>
              </a:ext>
            </a:extLst>
          </p:cNvPr>
          <p:cNvSpPr txBox="1"/>
          <p:nvPr/>
        </p:nvSpPr>
        <p:spPr>
          <a:xfrm>
            <a:off x="248285" y="0"/>
            <a:ext cx="113703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4.2 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 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Setup and Execution of </a:t>
            </a:r>
            <a:r>
              <a:rPr lang="en-US" altLang="zh-CN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SSNpipe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Create SSNs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D800BC5-B03B-00FE-E672-C6D698CF5B58}"/>
              </a:ext>
            </a:extLst>
          </p:cNvPr>
          <p:cNvSpPr/>
          <p:nvPr/>
        </p:nvSpPr>
        <p:spPr>
          <a:xfrm>
            <a:off x="7920507" y="6193549"/>
            <a:ext cx="4042893" cy="6451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4564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b="28680"/>
          <a:stretch>
            <a:fillRect/>
          </a:stretch>
        </p:blipFill>
        <p:spPr>
          <a:xfrm>
            <a:off x="257175" y="1573530"/>
            <a:ext cx="5718175" cy="472948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57175" y="1073150"/>
            <a:ext cx="5838190" cy="2711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sequence</a:t>
            </a:r>
            <a:r>
              <a:rPr lang="en-US" altLang="zh-CN" sz="2000" dirty="0">
                <a:solidFill>
                  <a:srgbClr val="FF0000"/>
                </a:solidFill>
              </a:rPr>
              <a:t> </a:t>
            </a:r>
            <a:r>
              <a:rPr lang="zh-CN" altLang="en-US" sz="2000" dirty="0">
                <a:solidFill>
                  <a:srgbClr val="FF0000"/>
                </a:solidFill>
              </a:rPr>
              <a:t>id|start</a:t>
            </a:r>
            <a:r>
              <a:rPr lang="en-US" altLang="zh-CN" sz="2000" dirty="0">
                <a:solidFill>
                  <a:srgbClr val="FF0000"/>
                </a:solidFill>
              </a:rPr>
              <a:t> </a:t>
            </a:r>
            <a:r>
              <a:rPr lang="zh-CN" altLang="en-US" sz="2000" dirty="0">
                <a:solidFill>
                  <a:srgbClr val="FF0000"/>
                </a:solidFill>
              </a:rPr>
              <a:t>end</a:t>
            </a:r>
            <a:r>
              <a:rPr lang="en-US" altLang="zh-CN" sz="2000" dirty="0">
                <a:solidFill>
                  <a:srgbClr val="FF0000"/>
                </a:solidFill>
              </a:rPr>
              <a:t> </a:t>
            </a:r>
            <a:r>
              <a:rPr lang="zh-CN" altLang="en-US" sz="2000" dirty="0">
                <a:solidFill>
                  <a:srgbClr val="FF0000"/>
                </a:solidFill>
              </a:rPr>
              <a:t>|extracted</a:t>
            </a:r>
            <a:r>
              <a:rPr lang="en-US" altLang="zh-CN" sz="2000" dirty="0">
                <a:solidFill>
                  <a:srgbClr val="FF0000"/>
                </a:solidFill>
              </a:rPr>
              <a:t> </a:t>
            </a:r>
            <a:r>
              <a:rPr lang="zh-CN" altLang="en-US" sz="2000" dirty="0">
                <a:solidFill>
                  <a:srgbClr val="FF0000"/>
                </a:solidFill>
              </a:rPr>
              <a:t>sequence</a:t>
            </a:r>
            <a:r>
              <a:rPr lang="en-US" altLang="zh-CN" sz="2000" dirty="0">
                <a:solidFill>
                  <a:srgbClr val="FF0000"/>
                </a:solidFill>
              </a:rPr>
              <a:t> </a:t>
            </a:r>
            <a:r>
              <a:rPr lang="zh-CN" altLang="en-US" sz="2000" dirty="0">
                <a:solidFill>
                  <a:srgbClr val="FF0000"/>
                </a:solidFill>
                <a:sym typeface="+mn-ea"/>
              </a:rPr>
              <a:t>len</a:t>
            </a:r>
            <a:r>
              <a:rPr lang="en-US" altLang="zh-CN" sz="2000" dirty="0" err="1">
                <a:solidFill>
                  <a:srgbClr val="FF0000"/>
                </a:solidFill>
                <a:sym typeface="+mn-ea"/>
              </a:rPr>
              <a:t>gth</a:t>
            </a:r>
            <a:endParaRPr lang="en-US" altLang="zh-CN" sz="2000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57175" y="674370"/>
            <a:ext cx="53587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Input:</a:t>
            </a:r>
            <a:r>
              <a:rPr lang="en-US" altLang="zh-CN" dirty="0"/>
              <a:t> </a:t>
            </a:r>
            <a:r>
              <a:rPr kumimoji="1" lang="en-US" altLang="zh-CN" dirty="0">
                <a:highlight>
                  <a:srgbClr val="FFFF00"/>
                </a:highlight>
                <a:ea typeface="等线" panose="02010600030101010101" charset="-122"/>
                <a:sym typeface="+mn-ea"/>
              </a:rPr>
              <a:t>random_selected_extracted_domains_02.faa</a:t>
            </a:r>
            <a:endParaRPr lang="en-US" altLang="zh-CN" dirty="0"/>
          </a:p>
        </p:txBody>
      </p:sp>
      <p:sp>
        <p:nvSpPr>
          <p:cNvPr id="10" name="文本框 9"/>
          <p:cNvSpPr txBox="1"/>
          <p:nvPr/>
        </p:nvSpPr>
        <p:spPr>
          <a:xfrm>
            <a:off x="248285" y="0"/>
            <a:ext cx="124612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4.2 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 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Setup and Execution of </a:t>
            </a:r>
            <a:r>
              <a:rPr lang="en-US" altLang="zh-CN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SSNpipe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 Create SSNs</a:t>
            </a:r>
            <a:endParaRPr lang="en-US" altLang="zh-C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193790" y="637540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000" b="1" dirty="0">
                <a:sym typeface="+mn-ea"/>
              </a:rPr>
              <a:t>Output:</a:t>
            </a:r>
          </a:p>
          <a:p>
            <a:r>
              <a:rPr lang="en-US" altLang="zh-CN" sz="2000" b="1" dirty="0">
                <a:sym typeface="+mn-ea"/>
              </a:rPr>
              <a:t>1. </a:t>
            </a:r>
            <a:r>
              <a:rPr lang="en-US" altLang="zh-CN" sz="2000" b="1" dirty="0" err="1">
                <a:sym typeface="+mn-ea"/>
              </a:rPr>
              <a:t>NodeTable_cs.txt</a:t>
            </a:r>
            <a:endParaRPr lang="en-US" altLang="zh-CN" sz="2000" b="1" dirty="0">
              <a:sym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36220" y="1544955"/>
            <a:ext cx="3342005" cy="261620"/>
          </a:xfrm>
          <a:prstGeom prst="rect">
            <a:avLst/>
          </a:prstGeom>
          <a:solidFill>
            <a:srgbClr val="000000">
              <a:alpha val="0"/>
            </a:srgb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221615" y="3429000"/>
            <a:ext cx="3342005" cy="261620"/>
          </a:xfrm>
          <a:prstGeom prst="rect">
            <a:avLst/>
          </a:prstGeom>
          <a:solidFill>
            <a:srgbClr val="000000">
              <a:alpha val="0"/>
            </a:srgb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248285" y="5166995"/>
            <a:ext cx="3342005" cy="261620"/>
          </a:xfrm>
          <a:prstGeom prst="rect">
            <a:avLst/>
          </a:prstGeom>
          <a:solidFill>
            <a:srgbClr val="000000">
              <a:alpha val="0"/>
            </a:srgb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6193790" y="1397000"/>
            <a:ext cx="6661785" cy="2711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000" b="1">
                <a:solidFill>
                  <a:srgbClr val="FF0000"/>
                </a:solidFill>
                <a:sym typeface="+mn-ea"/>
              </a:rPr>
              <a:t>Node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ID</a:t>
            </a:r>
            <a:r>
              <a:rPr lang="en-US" altLang="zh-CN" sz="2000">
                <a:sym typeface="+mn-ea"/>
              </a:rPr>
              <a:t> </a:t>
            </a:r>
            <a:r>
              <a:rPr lang="zh-CN" altLang="en-US">
                <a:solidFill>
                  <a:srgbClr val="FF0000"/>
                </a:solidFill>
              </a:rPr>
              <a:t>sequence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zh-CN" altLang="en-US">
                <a:solidFill>
                  <a:srgbClr val="FF0000"/>
                </a:solidFill>
              </a:rPr>
              <a:t>id|start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zh-CN" altLang="en-US">
                <a:solidFill>
                  <a:srgbClr val="FF0000"/>
                </a:solidFill>
              </a:rPr>
              <a:t>end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zh-CN" altLang="en-US">
                <a:solidFill>
                  <a:srgbClr val="FF0000"/>
                </a:solidFill>
              </a:rPr>
              <a:t>|extracted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zh-CN" altLang="en-US">
                <a:solidFill>
                  <a:srgbClr val="FF0000"/>
                </a:solidFill>
              </a:rPr>
              <a:t>sequence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len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gth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B67257D-2EFF-6B78-0E79-D3BE02569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205" y="1938020"/>
            <a:ext cx="5595620" cy="436499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248285" y="0"/>
            <a:ext cx="1122108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3600" b="1"/>
              <a:t>4.2 </a:t>
            </a:r>
            <a:r>
              <a:rPr lang="en-US" altLang="zh-CN" sz="3600" b="1">
                <a:sym typeface="+mn-ea"/>
              </a:rPr>
              <a:t>- </a:t>
            </a:r>
            <a:r>
              <a:rPr lang="en-US" altLang="zh-CN" sz="3600" b="1"/>
              <a:t>Setup and Execution of SSNpipe </a:t>
            </a:r>
            <a:r>
              <a:rPr lang="en-US" altLang="zh-CN" sz="3600" b="1">
                <a:sym typeface="+mn-ea"/>
              </a:rPr>
              <a:t> - Create SSNs</a:t>
            </a:r>
            <a:endParaRPr lang="en-US" altLang="zh-CN" sz="3600" b="1"/>
          </a:p>
          <a:p>
            <a:pPr algn="l">
              <a:buClrTx/>
              <a:buSzTx/>
              <a:buFontTx/>
            </a:pPr>
            <a:endParaRPr lang="en-US" altLang="zh-CN" sz="3600" b="1"/>
          </a:p>
        </p:txBody>
      </p:sp>
      <p:sp>
        <p:nvSpPr>
          <p:cNvPr id="12" name="文本框 11"/>
          <p:cNvSpPr txBox="1"/>
          <p:nvPr/>
        </p:nvSpPr>
        <p:spPr>
          <a:xfrm>
            <a:off x="173990" y="645160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000" b="1" dirty="0">
                <a:sym typeface="+mn-ea"/>
              </a:rPr>
              <a:t>Output:</a:t>
            </a:r>
          </a:p>
          <a:p>
            <a:r>
              <a:rPr lang="en-US" altLang="zh-CN" sz="2000" b="1" dirty="0">
                <a:sym typeface="+mn-ea"/>
              </a:rPr>
              <a:t>2. networks/</a:t>
            </a:r>
            <a:r>
              <a:rPr lang="en-US" altLang="zh-CN" sz="2000" b="1" dirty="0" err="1">
                <a:sym typeface="+mn-ea"/>
              </a:rPr>
              <a:t>NETWORK_cs_ev_XX_.txt</a:t>
            </a:r>
            <a:endParaRPr lang="en-US" altLang="zh-CN" sz="2000" b="1" dirty="0">
              <a:sym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673735" y="2015490"/>
            <a:ext cx="4072890" cy="4191635"/>
            <a:chOff x="856" y="3125"/>
            <a:chExt cx="4632" cy="4613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6" y="3406"/>
              <a:ext cx="4632" cy="4332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67" y="3125"/>
              <a:ext cx="3072" cy="240"/>
            </a:xfrm>
            <a:prstGeom prst="rect">
              <a:avLst/>
            </a:prstGeom>
          </p:spPr>
        </p:pic>
      </p:grpSp>
      <p:sp>
        <p:nvSpPr>
          <p:cNvPr id="6" name="文本框 5"/>
          <p:cNvSpPr txBox="1"/>
          <p:nvPr/>
        </p:nvSpPr>
        <p:spPr>
          <a:xfrm>
            <a:off x="1480820" y="1497965"/>
            <a:ext cx="1132205" cy="4095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000" b="1">
                <a:solidFill>
                  <a:srgbClr val="FF0000"/>
                </a:solidFill>
                <a:sym typeface="+mn-ea"/>
              </a:rPr>
              <a:t>Node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ID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3406775" y="149796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FF0000"/>
                </a:solidFill>
                <a:sym typeface="+mn-ea"/>
              </a:rPr>
              <a:t>E-value</a:t>
            </a:r>
            <a:endParaRPr lang="en-US" altLang="zh-CN" sz="2000" b="1">
              <a:solidFill>
                <a:srgbClr val="FF000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4350" y="752475"/>
            <a:ext cx="2209800" cy="570357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4965700" y="1602740"/>
            <a:ext cx="3853815" cy="1574165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/>
              <a:t>Lower E-values indicate more significant matches, with values close to zero suggesting a highly relevant match.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4933950" y="3256280"/>
            <a:ext cx="382524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>
                <a:cs typeface="+mn-lt"/>
              </a:rPr>
              <a:t> </a:t>
            </a:r>
            <a:r>
              <a:rPr lang="en-US" altLang="zh-CN" sz="2000">
                <a:cs typeface="+mn-lt"/>
              </a:rPr>
              <a:t>E-value of 1e-140 (or 10^-140) is extremely low, meaning the likelihood that this match occurred by chance is almost negligible. This suggests a very high similarity between the query sequence and the target, making the alignment result statistically significant.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3655" y="645160"/>
            <a:ext cx="7147332" cy="3509645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ea typeface="等线" panose="02010600030101010101" charset="-122"/>
              </a:rPr>
              <a:t>Generate </a:t>
            </a:r>
            <a:r>
              <a:rPr kumimoji="1" lang="en-US" altLang="zh-CN" sz="2400" dirty="0">
                <a:solidFill>
                  <a:srgbClr val="FF0000"/>
                </a:solidFill>
                <a:ea typeface="等线" panose="02010600030101010101" charset="-122"/>
              </a:rPr>
              <a:t>Group Analysis</a:t>
            </a:r>
            <a:r>
              <a:rPr kumimoji="1" lang="en-US" altLang="zh-CN" sz="2400" dirty="0">
                <a:ea typeface="等线" panose="02010600030101010101" charset="-122"/>
              </a:rPr>
              <a:t> files from the 4th tab.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ea typeface="等线" panose="02010600030101010101" charset="-122"/>
                <a:sym typeface="+mn-ea"/>
              </a:rPr>
              <a:t>The </a:t>
            </a:r>
            <a:r>
              <a:rPr kumimoji="1" lang="en-US" altLang="zh-CN" sz="2400" dirty="0">
                <a:highlight>
                  <a:srgbClr val="FFFF00"/>
                </a:highlight>
                <a:ea typeface="等线" panose="02010600030101010101" charset="-122"/>
                <a:sym typeface="+mn-ea"/>
              </a:rPr>
              <a:t>NETWORK_cs_ev_XX_.txt</a:t>
            </a:r>
            <a:r>
              <a:rPr kumimoji="1" lang="en-US" altLang="zh-CN" sz="2400" dirty="0">
                <a:ea typeface="等线" panose="02010600030101010101" charset="-122"/>
                <a:sym typeface="+mn-ea"/>
              </a:rPr>
              <a:t> will be the input</a:t>
            </a:r>
            <a:endParaRPr kumimoji="1" lang="en-US" altLang="zh-CN" sz="2400" dirty="0">
              <a:ea typeface="等线" panose="0201060003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2400" dirty="0">
              <a:ea typeface="等线" panose="02010600030101010101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2400" dirty="0">
                <a:ea typeface="等线" panose="02010600030101010101" charset="-122"/>
                <a:sym typeface="+mn-ea"/>
              </a:rPr>
              <a:t>Click on </a:t>
            </a:r>
            <a:r>
              <a:rPr kumimoji="1" lang="en-US" altLang="zh-CN" sz="2400" b="1" dirty="0" err="1">
                <a:ea typeface="等线" panose="02010600030101010101" charset="-122"/>
                <a:sym typeface="+mn-ea"/>
              </a:rPr>
              <a:t>Initiate</a:t>
            </a:r>
            <a:r>
              <a:rPr kumimoji="1" lang="en-US" altLang="zh-CN" sz="2400" b="1" dirty="0">
                <a:ea typeface="等线" panose="02010600030101010101" charset="-122"/>
                <a:sym typeface="+mn-ea"/>
              </a:rPr>
              <a:t> and Run Analysis,</a:t>
            </a:r>
            <a:r>
              <a:rPr kumimoji="1" lang="en-US" altLang="zh-CN" sz="2400" dirty="0">
                <a:ea typeface="等线" panose="02010600030101010101" charset="-122"/>
                <a:sym typeface="+mn-ea"/>
              </a:rPr>
              <a:t> the program will run for a few hours depending on the database size and computational power. </a:t>
            </a:r>
          </a:p>
          <a:p>
            <a:pPr algn="l">
              <a:buClrTx/>
              <a:buSzTx/>
              <a:buNone/>
            </a:pPr>
            <a:endParaRPr lang="en-US" altLang="zh-CN" sz="1400" dirty="0">
              <a:solidFill>
                <a:srgbClr val="000000"/>
              </a:solidFill>
              <a:latin typeface="Courier New" panose="02070309020205020404"/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endParaRPr lang="en-GB" altLang="zh-CN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endParaRPr lang="en-GB" altLang="zh-CN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endParaRPr lang="en-GB" altLang="zh-CN" dirty="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endParaRPr lang="zh-CN" altLang="en-US" dirty="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6050" y="837565"/>
            <a:ext cx="4357370" cy="54229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81940" y="3328035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000" b="1" dirty="0">
                <a:sym typeface="+mn-ea"/>
              </a:rPr>
              <a:t>Output:</a:t>
            </a:r>
          </a:p>
          <a:p>
            <a:r>
              <a:rPr lang="en-US" altLang="zh-CN" sz="2000" b="1" dirty="0">
                <a:sym typeface="+mn-ea"/>
              </a:rPr>
              <a:t>1. analysis/</a:t>
            </a:r>
            <a:r>
              <a:rPr lang="en-US" altLang="zh-CN" sz="2000" b="1" dirty="0" err="1">
                <a:sym typeface="+mn-ea"/>
              </a:rPr>
              <a:t>GROUPS_XXX_info.txt</a:t>
            </a:r>
            <a:endParaRPr lang="en-US" altLang="zh-CN" sz="2000" b="1" dirty="0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81940" y="76200"/>
            <a:ext cx="11710670" cy="8724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buClrTx/>
              <a:buSzTx/>
              <a:buFontTx/>
            </a:pPr>
            <a:r>
              <a:rPr lang="en-US" altLang="zh-CN" sz="3600" b="1" dirty="0"/>
              <a:t>4.3 </a:t>
            </a:r>
            <a:r>
              <a:rPr lang="en-US" altLang="zh-CN" sz="3600" b="1" dirty="0">
                <a:sym typeface="+mn-ea"/>
              </a:rPr>
              <a:t>- </a:t>
            </a:r>
            <a:r>
              <a:rPr lang="en-US" altLang="zh-CN" sz="3600" b="1" dirty="0"/>
              <a:t>Setup and Execution of </a:t>
            </a:r>
            <a:r>
              <a:rPr lang="en-US" altLang="zh-CN" sz="3600" b="1" dirty="0" err="1"/>
              <a:t>SSNpipe</a:t>
            </a:r>
            <a:r>
              <a:rPr lang="en-US" altLang="zh-CN" sz="3600" b="1" dirty="0"/>
              <a:t> </a:t>
            </a:r>
            <a:r>
              <a:rPr lang="en-US" altLang="zh-CN" sz="3600" b="1" dirty="0">
                <a:sym typeface="+mn-ea"/>
              </a:rPr>
              <a:t> - Group Analysis</a:t>
            </a:r>
            <a:endParaRPr lang="en-US" altLang="zh-CN" sz="3600" b="1" dirty="0"/>
          </a:p>
        </p:txBody>
      </p:sp>
      <p:pic>
        <p:nvPicPr>
          <p:cNvPr id="4" name="Picture 3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B867E20E-2B00-BAB2-59E5-DCBD00B217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940" y="4154805"/>
            <a:ext cx="5712460" cy="23793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A6E05F-6BA4-19DF-B6E1-971334B9A2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6722" y="837565"/>
            <a:ext cx="4811623" cy="54229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D7CD1FD-15E4-2F7A-D9A6-B9052BEC8E54}"/>
              </a:ext>
            </a:extLst>
          </p:cNvPr>
          <p:cNvSpPr/>
          <p:nvPr/>
        </p:nvSpPr>
        <p:spPr>
          <a:xfrm>
            <a:off x="9826580" y="1313645"/>
            <a:ext cx="968161" cy="2818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74625" y="757535"/>
            <a:ext cx="11842750" cy="17964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Go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to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the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CAZy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family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page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to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get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all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characterized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IDs.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Tabular column page will be shown.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Copy the Characterized IDs, EC numbers from the page and paste them in Excel and select only the IDs which only have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hyperlinks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(Characterized by </a:t>
            </a:r>
            <a:r>
              <a:rPr lang="en-US" altLang="zh-CN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CAZy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) and make a list.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Copy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those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in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the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excel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and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revise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it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then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use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nano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to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make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txt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file and save it: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rcRect r="44167"/>
          <a:stretch>
            <a:fillRect/>
          </a:stretch>
        </p:blipFill>
        <p:spPr>
          <a:xfrm>
            <a:off x="9736455" y="2221230"/>
            <a:ext cx="2141220" cy="36633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3344" y="2917825"/>
            <a:ext cx="3635942" cy="2238375"/>
          </a:xfrm>
          <a:prstGeom prst="rect">
            <a:avLst/>
          </a:prstGeom>
        </p:spPr>
      </p:pic>
      <p:sp>
        <p:nvSpPr>
          <p:cNvPr id="4" name="右箭头 3"/>
          <p:cNvSpPr/>
          <p:nvPr/>
        </p:nvSpPr>
        <p:spPr>
          <a:xfrm>
            <a:off x="4345940" y="3497580"/>
            <a:ext cx="658495" cy="603250"/>
          </a:xfrm>
          <a:prstGeom prst="rightArrow">
            <a:avLst/>
          </a:prstGeom>
          <a:solidFill>
            <a:srgbClr val="00B05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58775" y="6105526"/>
            <a:ext cx="818769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Genbank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ECs,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don’t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forget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check,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keep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all.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1280" y="130175"/>
            <a:ext cx="120300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4.4 - Gathering Characterized 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Genbank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IDs and EC Numbers from 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CAZy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右箭头 6"/>
          <p:cNvSpPr/>
          <p:nvPr/>
        </p:nvSpPr>
        <p:spPr>
          <a:xfrm>
            <a:off x="8993188" y="3528060"/>
            <a:ext cx="658495" cy="603250"/>
          </a:xfrm>
          <a:prstGeom prst="rightArrow">
            <a:avLst/>
          </a:prstGeom>
          <a:solidFill>
            <a:srgbClr val="00B05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C76DEE9-D944-512B-5CBB-7FCDD7AEE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775" y="2743201"/>
            <a:ext cx="3818256" cy="27432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9D491E9-F54E-CABD-C26E-E6A011571414}"/>
              </a:ext>
            </a:extLst>
          </p:cNvPr>
          <p:cNvSpPr/>
          <p:nvPr/>
        </p:nvSpPr>
        <p:spPr>
          <a:xfrm>
            <a:off x="2172814" y="4416726"/>
            <a:ext cx="380606" cy="1419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06680" y="1036062"/>
            <a:ext cx="10559415" cy="1356995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Finally get this result: Name is “</a:t>
            </a:r>
            <a:r>
              <a:rPr lang="en-US" altLang="zh-CN" sz="2400" dirty="0" err="1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Characterized_ids.txt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” (name could be changed but you also need to fix the program later).</a:t>
            </a: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The first row is IDS/EC</a:t>
            </a:r>
          </a:p>
          <a:p>
            <a:b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endParaRPr lang="en-GB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b="46975"/>
          <a:stretch>
            <a:fillRect/>
          </a:stretch>
        </p:blipFill>
        <p:spPr>
          <a:xfrm>
            <a:off x="9121775" y="2085657"/>
            <a:ext cx="2898140" cy="268668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72085" y="2464971"/>
            <a:ext cx="7028815" cy="4806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ea"/>
              </a:rPr>
              <a:t>Enzyme Commission (EC) Number Classification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72085" y="3017580"/>
            <a:ext cx="9408795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>
              <a:spcBef>
                <a:spcPts val="16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ea"/>
              </a:rPr>
              <a:t>EC number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ea"/>
              </a:rPr>
              <a:t> is a classification system based on the chemical reactions that these proteins catalyze. It was developed by the International Union of Biochemistry and Molecular Biology (IUBMB) </a:t>
            </a:r>
          </a:p>
          <a:p>
            <a:pPr marL="285750" indent="-285750" algn="l">
              <a:spcBef>
                <a:spcPts val="16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 b="0" i="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First Number: The type of reaction or enzyme class. Ex: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ea"/>
              </a:rPr>
              <a:t>EC 3: Hydrolases</a:t>
            </a:r>
            <a:endParaRPr lang="en-US" altLang="zh-CN" sz="2000" b="0" i="0" dirty="0">
              <a:solidFill>
                <a:srgbClr val="000000"/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285750" indent="-285750" algn="l">
              <a:spcBef>
                <a:spcPts val="16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 b="0" i="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Second and third numbers: Enzyme subclass and sub-subclass</a:t>
            </a:r>
          </a:p>
          <a:p>
            <a:pPr marL="285750" indent="-285750" algn="l">
              <a:spcBef>
                <a:spcPts val="16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 b="0" i="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Fourth Number: Enzyme identification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1280" y="130175"/>
            <a:ext cx="120300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4.4 - Gathering Characterized 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Genbank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IDs and EC Numbers from 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CAZy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7415" y="5468620"/>
            <a:ext cx="6032500" cy="125920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378190" y="4987607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 algn="l"/>
            <a:r>
              <a:rPr lang="en-US" altLang="zh-CN" sz="1600" b="0" i="0">
                <a:solidFill>
                  <a:srgbClr val="303133"/>
                </a:solidFill>
                <a:latin typeface="Montserrat-Bold"/>
                <a:ea typeface="Montserrat-Bold"/>
              </a:rPr>
              <a:t> 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0134C-B04F-701A-5BAE-304664EDC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47632CB-06A3-51E2-2B33-7B55C0D98E1A}"/>
              </a:ext>
            </a:extLst>
          </p:cNvPr>
          <p:cNvSpPr txBox="1"/>
          <p:nvPr/>
        </p:nvSpPr>
        <p:spPr>
          <a:xfrm>
            <a:off x="70612" y="2732144"/>
            <a:ext cx="4275455" cy="7386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latin typeface="Courier New" panose="02070309020205020404"/>
                <a:ea typeface="Calibri" panose="020F0502020204030204"/>
                <a:cs typeface="Calibri" panose="020F0502020204030204"/>
              </a:rPr>
              <a:t>cp ../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/>
                <a:ea typeface="Calibri" panose="020F0502020204030204"/>
                <a:cs typeface="Calibri" panose="020F0502020204030204"/>
                <a:sym typeface="+mn-ea"/>
              </a:rPr>
              <a:t>course-project-1-Subfamily-classification-of-glycoside-hydrolase-family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/>
                <a:ea typeface="Calibri" panose="020F0502020204030204"/>
                <a:cs typeface="Calibri" panose="020F0502020204030204"/>
              </a:rPr>
              <a:t>/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/>
                <a:ea typeface="Calibri" panose="020F0502020204030204"/>
                <a:cs typeface="Calibri" panose="020F0502020204030204"/>
              </a:rPr>
              <a:t>analysis_mapped.py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/>
                <a:ea typeface="Calibri" panose="020F0502020204030204"/>
                <a:cs typeface="Calibri" panose="020F0502020204030204"/>
              </a:rPr>
              <a:t> .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E8D82D6-0433-41A6-6F97-7E3D615D2C23}"/>
              </a:ext>
            </a:extLst>
          </p:cNvPr>
          <p:cNvSpPr txBox="1"/>
          <p:nvPr/>
        </p:nvSpPr>
        <p:spPr>
          <a:xfrm>
            <a:off x="0" y="5148852"/>
            <a:ext cx="4720590" cy="3683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1800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You need revise those names</a:t>
            </a:r>
            <a:r>
              <a:rPr lang="en-US" altLang="zh-CN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.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2545D08-ACD6-2B43-492D-7CFCB3086447}"/>
              </a:ext>
            </a:extLst>
          </p:cNvPr>
          <p:cNvSpPr txBox="1"/>
          <p:nvPr/>
        </p:nvSpPr>
        <p:spPr>
          <a:xfrm>
            <a:off x="562610" y="150495"/>
            <a:ext cx="112102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4.4 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 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EC-Number Mapping for Subfamily Classification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E8C0F08-8C1E-9986-F042-4950FDC2222A}"/>
              </a:ext>
            </a:extLst>
          </p:cNvPr>
          <p:cNvGrpSpPr/>
          <p:nvPr/>
        </p:nvGrpSpPr>
        <p:grpSpPr>
          <a:xfrm>
            <a:off x="4720589" y="1016000"/>
            <a:ext cx="7428865" cy="5588000"/>
            <a:chOff x="4381500" y="1016000"/>
            <a:chExt cx="7772400" cy="5588000"/>
          </a:xfrm>
        </p:grpSpPr>
        <p:pic>
          <p:nvPicPr>
            <p:cNvPr id="4" name="Picture 3" descr="A computer screen shot of white text&#10;&#10;AI-generated content may be incorrect.">
              <a:extLst>
                <a:ext uri="{FF2B5EF4-FFF2-40B4-BE49-F238E27FC236}">
                  <a16:creationId xmlns:a16="http://schemas.microsoft.com/office/drawing/2014/main" id="{2DA4CE4B-50D8-9516-E45E-623BDE0941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81500" y="1054100"/>
              <a:ext cx="7772400" cy="5549900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4F63FAC-F3E8-B59B-8B0E-A825518E5C2C}"/>
                </a:ext>
              </a:extLst>
            </p:cNvPr>
            <p:cNvSpPr/>
            <p:nvPr/>
          </p:nvSpPr>
          <p:spPr>
            <a:xfrm>
              <a:off x="4720590" y="1016000"/>
              <a:ext cx="5147310" cy="324848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F5CDE91-CE4F-264C-5BA5-406014187B48}"/>
                </a:ext>
              </a:extLst>
            </p:cNvPr>
            <p:cNvSpPr/>
            <p:nvPr/>
          </p:nvSpPr>
          <p:spPr>
            <a:xfrm>
              <a:off x="7086600" y="1340848"/>
              <a:ext cx="4584700" cy="22034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287E981-D8A8-D3C5-F55B-D303F6C8785D}"/>
                </a:ext>
              </a:extLst>
            </p:cNvPr>
            <p:cNvSpPr/>
            <p:nvPr/>
          </p:nvSpPr>
          <p:spPr>
            <a:xfrm>
              <a:off x="6705600" y="1640205"/>
              <a:ext cx="5245100" cy="53149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FABEFBB-A056-EDB1-6393-2339B9759165}"/>
                </a:ext>
              </a:extLst>
            </p:cNvPr>
            <p:cNvSpPr/>
            <p:nvPr/>
          </p:nvSpPr>
          <p:spPr>
            <a:xfrm>
              <a:off x="6528435" y="5358402"/>
              <a:ext cx="4507865" cy="18415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E3A2631-32B5-6E89-09F5-ECD0CDA53F67}"/>
              </a:ext>
            </a:extLst>
          </p:cNvPr>
          <p:cNvSpPr txBox="1"/>
          <p:nvPr/>
        </p:nvSpPr>
        <p:spPr>
          <a:xfrm>
            <a:off x="245745" y="1317039"/>
            <a:ext cx="36487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0000"/>
                </a:solidFill>
                <a:ea typeface="等线" panose="02010600030101010101" charset="-122"/>
                <a:cs typeface="+mn-lt"/>
                <a:sym typeface="+mn-ea"/>
              </a:rPr>
              <a:t>You will use </a:t>
            </a:r>
            <a:r>
              <a:rPr lang="en-US" altLang="zh-CN" sz="1800" dirty="0" err="1">
                <a:solidFill>
                  <a:srgbClr val="000000"/>
                </a:solidFill>
                <a:highlight>
                  <a:srgbClr val="FFFF00"/>
                </a:highlight>
                <a:ea typeface="等线" panose="02010600030101010101" charset="-122"/>
                <a:cs typeface="+mn-lt"/>
                <a:sym typeface="+mn-ea"/>
              </a:rPr>
              <a:t>NodeTable_cs.txt</a:t>
            </a:r>
            <a:r>
              <a:rPr lang="en-US" altLang="zh-CN" sz="1800" dirty="0">
                <a:solidFill>
                  <a:srgbClr val="000000"/>
                </a:solidFill>
                <a:ea typeface="等线" panose="02010600030101010101" charset="-122"/>
                <a:cs typeface="+mn-lt"/>
                <a:sym typeface="+mn-ea"/>
              </a:rPr>
              <a:t>, </a:t>
            </a:r>
            <a:r>
              <a:rPr lang="en-US" altLang="zh-CN" sz="1800" dirty="0" err="1">
                <a:solidFill>
                  <a:srgbClr val="000000"/>
                </a:solidFill>
                <a:highlight>
                  <a:srgbClr val="FFFF00"/>
                </a:highlight>
                <a:ea typeface="等线" panose="02010600030101010101" charset="-122"/>
                <a:cs typeface="+mn-lt"/>
                <a:sym typeface="+mn-ea"/>
              </a:rPr>
              <a:t>GROUPS_XXX_info.txt</a:t>
            </a:r>
            <a:r>
              <a:rPr lang="en-US" altLang="zh-CN" sz="1800" dirty="0">
                <a:solidFill>
                  <a:srgbClr val="000000"/>
                </a:solidFill>
                <a:ea typeface="等线" panose="02010600030101010101" charset="-122"/>
                <a:cs typeface="+mn-lt"/>
                <a:sym typeface="+mn-ea"/>
              </a:rPr>
              <a:t>, </a:t>
            </a:r>
            <a:r>
              <a:rPr lang="en-US" altLang="zh-CN" sz="1800" dirty="0" err="1">
                <a:solidFill>
                  <a:srgbClr val="000000"/>
                </a:solidFill>
                <a:highlight>
                  <a:srgbClr val="FFFF00"/>
                </a:highlight>
                <a:ea typeface="等线" panose="02010600030101010101" charset="-122"/>
                <a:cs typeface="+mn-lt"/>
                <a:sym typeface="+mn-ea"/>
              </a:rPr>
              <a:t>Characterized_ids.txt</a:t>
            </a:r>
            <a:endParaRPr lang="en-US" altLang="zh-CN" sz="1800" dirty="0">
              <a:solidFill>
                <a:srgbClr val="000000"/>
              </a:solidFill>
              <a:highlight>
                <a:srgbClr val="FFFF00"/>
              </a:highlight>
              <a:ea typeface="等线" panose="02010600030101010101" charset="-122"/>
              <a:cs typeface="+mn-lt"/>
              <a:sym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827A3B-BAB7-38E6-2587-41BE6E49A24B}"/>
              </a:ext>
            </a:extLst>
          </p:cNvPr>
          <p:cNvSpPr txBox="1"/>
          <p:nvPr/>
        </p:nvSpPr>
        <p:spPr>
          <a:xfrm>
            <a:off x="101600" y="3723450"/>
            <a:ext cx="42754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latin typeface="Courier New" panose="02070309020205020404"/>
                <a:ea typeface="Calibri" panose="020F0502020204030204"/>
                <a:cs typeface="Calibri" panose="020F0502020204030204"/>
              </a:rPr>
              <a:t>nano </a:t>
            </a:r>
            <a:r>
              <a:rPr lang="en-US" altLang="zh-CN" sz="1600" dirty="0" err="1">
                <a:solidFill>
                  <a:srgbClr val="000000"/>
                </a:solidFill>
                <a:latin typeface="Courier New" panose="02070309020205020404"/>
                <a:ea typeface="Calibri" panose="020F0502020204030204"/>
                <a:cs typeface="Calibri" panose="020F0502020204030204"/>
                <a:sym typeface="+mn-ea"/>
              </a:rPr>
              <a:t>analysis_mapped.py</a:t>
            </a:r>
            <a:endParaRPr lang="en-US" altLang="zh-CN" sz="1600" dirty="0">
              <a:solidFill>
                <a:srgbClr val="000000"/>
              </a:solidFill>
              <a:latin typeface="Courier New" panose="02070309020205020404"/>
              <a:ea typeface="Calibri" panose="020F0502020204030204"/>
              <a:cs typeface="Calibri" panose="020F0502020204030204"/>
              <a:sym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2F23DA-B42B-8E50-17F3-8982E9718D58}"/>
              </a:ext>
            </a:extLst>
          </p:cNvPr>
          <p:cNvSpPr txBox="1"/>
          <p:nvPr/>
        </p:nvSpPr>
        <p:spPr>
          <a:xfrm>
            <a:off x="101600" y="4299259"/>
            <a:ext cx="45526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latin typeface="Courier New" panose="02070309020205020404"/>
                <a:ea typeface="Calibri" panose="020F0502020204030204"/>
                <a:cs typeface="Calibri" panose="020F0502020204030204"/>
              </a:rPr>
              <a:t>python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00FFFF"/>
                </a:highlight>
                <a:latin typeface="Courier New" panose="02070309020205020404"/>
                <a:ea typeface="Calibri" panose="020F0502020204030204"/>
                <a:cs typeface="Calibri" panose="020F0502020204030204"/>
              </a:rPr>
              <a:t>analysis_mapped.py</a:t>
            </a:r>
            <a:endParaRPr lang="en-GB" altLang="zh-CN" sz="1600" dirty="0">
              <a:highlight>
                <a:srgbClr val="00FFFF"/>
              </a:highlight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8514512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C25D100-747F-2F28-76B4-83EA2E9C3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3895" y="3356202"/>
            <a:ext cx="4006850" cy="1353562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34010" y="64135"/>
            <a:ext cx="114515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4.4 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- </a:t>
            </a: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EC-Number Mapping for Subfamily Classification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4C7139D-9235-8E7F-DCC6-5A725772D24F}"/>
              </a:ext>
            </a:extLst>
          </p:cNvPr>
          <p:cNvSpPr txBox="1"/>
          <p:nvPr/>
        </p:nvSpPr>
        <p:spPr>
          <a:xfrm>
            <a:off x="2857500" y="2717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5" name="文本框 5">
            <a:extLst>
              <a:ext uri="{FF2B5EF4-FFF2-40B4-BE49-F238E27FC236}">
                <a16:creationId xmlns:a16="http://schemas.microsoft.com/office/drawing/2014/main" id="{6A444EA8-7561-773C-37E8-024A7321393B}"/>
              </a:ext>
            </a:extLst>
          </p:cNvPr>
          <p:cNvSpPr txBox="1"/>
          <p:nvPr/>
        </p:nvSpPr>
        <p:spPr>
          <a:xfrm>
            <a:off x="568484" y="1206301"/>
            <a:ext cx="4275455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等线" panose="02010600030101010101" charset="-122"/>
                <a:cs typeface="+mn-lt"/>
                <a:sym typeface="+mn-ea"/>
              </a:rPr>
              <a:t>You will use 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00"/>
                </a:highlight>
                <a:ea typeface="等线" panose="02010600030101010101" charset="-122"/>
                <a:cs typeface="+mn-lt"/>
                <a:sym typeface="+mn-ea"/>
              </a:rPr>
              <a:t>NodeTable_cs.txt</a:t>
            </a:r>
            <a:r>
              <a:rPr lang="en-US" altLang="zh-CN" sz="2000" dirty="0">
                <a:solidFill>
                  <a:srgbClr val="000000"/>
                </a:solidFill>
                <a:ea typeface="等线" panose="02010600030101010101" charset="-122"/>
                <a:cs typeface="+mn-lt"/>
                <a:sym typeface="+mn-ea"/>
              </a:rPr>
              <a:t>, </a:t>
            </a:r>
            <a:r>
              <a:rPr lang="en-US" altLang="zh-CN" sz="2000" dirty="0">
                <a:solidFill>
                  <a:srgbClr val="000000"/>
                </a:solidFill>
                <a:highlight>
                  <a:srgbClr val="FFFF00"/>
                </a:highlight>
                <a:ea typeface="等线" panose="02010600030101010101" charset="-122"/>
                <a:cs typeface="+mn-lt"/>
                <a:sym typeface="+mn-ea"/>
              </a:rPr>
              <a:t>GROUPS_XXX_info.txt</a:t>
            </a:r>
            <a:r>
              <a:rPr lang="en-US" altLang="zh-CN" sz="2000" dirty="0">
                <a:solidFill>
                  <a:srgbClr val="000000"/>
                </a:solidFill>
                <a:ea typeface="等线" panose="02010600030101010101" charset="-122"/>
                <a:cs typeface="+mn-lt"/>
                <a:sym typeface="+mn-ea"/>
              </a:rPr>
              <a:t>, </a:t>
            </a:r>
            <a:r>
              <a:rPr lang="en-US" altLang="zh-CN" sz="2000" dirty="0" err="1">
                <a:solidFill>
                  <a:srgbClr val="000000"/>
                </a:solidFill>
                <a:highlight>
                  <a:srgbClr val="FFFF00"/>
                </a:highlight>
                <a:ea typeface="等线" panose="02010600030101010101" charset="-122"/>
                <a:cs typeface="+mn-lt"/>
                <a:sym typeface="+mn-ea"/>
              </a:rPr>
              <a:t>Characterized_ids.txt</a:t>
            </a:r>
            <a:endParaRPr lang="en-US" altLang="zh-CN" sz="2000" dirty="0">
              <a:solidFill>
                <a:srgbClr val="000000"/>
              </a:solidFill>
              <a:highlight>
                <a:srgbClr val="FFFF00"/>
              </a:highlight>
              <a:ea typeface="等线" panose="02010600030101010101" charset="-122"/>
              <a:cs typeface="+mn-lt"/>
              <a:sym typeface="+mn-ea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A1DEDFC-5462-62BC-F91F-2DA45B9F8D5F}"/>
              </a:ext>
            </a:extLst>
          </p:cNvPr>
          <p:cNvGrpSpPr/>
          <p:nvPr/>
        </p:nvGrpSpPr>
        <p:grpSpPr>
          <a:xfrm>
            <a:off x="2456020" y="709295"/>
            <a:ext cx="9600883" cy="5972165"/>
            <a:chOff x="2456020" y="564281"/>
            <a:chExt cx="9600883" cy="5972165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BB26D47-29EE-5F8E-DE47-E84DA04BBF51}"/>
                </a:ext>
              </a:extLst>
            </p:cNvPr>
            <p:cNvGrpSpPr/>
            <p:nvPr/>
          </p:nvGrpSpPr>
          <p:grpSpPr>
            <a:xfrm>
              <a:off x="2456020" y="564281"/>
              <a:ext cx="9600883" cy="5972165"/>
              <a:chOff x="2355531" y="730885"/>
              <a:chExt cx="9600883" cy="5972165"/>
            </a:xfrm>
          </p:grpSpPr>
          <p:sp>
            <p:nvSpPr>
              <p:cNvPr id="70" name="TextBox 9"/>
              <p:cNvSpPr txBox="1"/>
              <p:nvPr/>
            </p:nvSpPr>
            <p:spPr>
              <a:xfrm>
                <a:off x="6349999" y="730885"/>
                <a:ext cx="5606415" cy="3977005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65000"/>
                  </a:schemeClr>
                </a:solidFill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>
                        <a:lumMod val="20000"/>
                        <a:lumOff val="80000"/>
                      </a:schemeClr>
                    </a:solidFill>
                  </a14:hiddenFill>
                </a:ext>
              </a:extLst>
            </p:spPr>
            <p:txBody>
              <a:bodyPr wrap="square" rtlCol="0">
                <a:noAutofit/>
              </a:bodyPr>
              <a:lstStyle/>
              <a:p>
                <a:pPr algn="ctr"/>
                <a:endParaRPr lang="en-US" b="1" dirty="0"/>
              </a:p>
              <a:p>
                <a:pPr algn="ctr"/>
                <a:endParaRPr lang="en-US" b="1" dirty="0"/>
              </a:p>
              <a:p>
                <a:pPr algn="ctr"/>
                <a:endParaRPr lang="en-US" b="1" dirty="0"/>
              </a:p>
              <a:p>
                <a:pPr algn="ctr"/>
                <a:endParaRPr lang="en-US" b="1" dirty="0"/>
              </a:p>
              <a:p>
                <a:pPr algn="ctr"/>
                <a:endParaRPr lang="en-US" b="1" dirty="0"/>
              </a:p>
              <a:p>
                <a:pPr algn="ctr"/>
                <a:endParaRPr lang="en-US" b="1" dirty="0"/>
              </a:p>
              <a:p>
                <a:pPr algn="ctr"/>
                <a:endParaRPr lang="en-US" b="1" dirty="0"/>
              </a:p>
            </p:txBody>
          </p:sp>
          <p:sp>
            <p:nvSpPr>
              <p:cNvPr id="21" name="右箭头 20"/>
              <p:cNvSpPr/>
              <p:nvPr/>
            </p:nvSpPr>
            <p:spPr>
              <a:xfrm rot="5400000">
                <a:off x="8512175" y="4798060"/>
                <a:ext cx="415290" cy="341630"/>
              </a:xfrm>
              <a:prstGeom prst="rightArrow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pic>
            <p:nvPicPr>
              <p:cNvPr id="4" name="Picture 3" descr="A screenshot of a computer&#10;&#10;AI-generated content may be incorrect.">
                <a:extLst>
                  <a:ext uri="{FF2B5EF4-FFF2-40B4-BE49-F238E27FC236}">
                    <a16:creationId xmlns:a16="http://schemas.microsoft.com/office/drawing/2014/main" id="{9667BAF8-7E26-BE4F-109E-C4C89BC12E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b="71952"/>
              <a:stretch>
                <a:fillRect/>
              </a:stretch>
            </p:blipFill>
            <p:spPr>
              <a:xfrm>
                <a:off x="6671627" y="862649"/>
                <a:ext cx="4507865" cy="1115060"/>
              </a:xfrm>
              <a:prstGeom prst="rect">
                <a:avLst/>
              </a:prstGeom>
            </p:spPr>
          </p:pic>
          <p:pic>
            <p:nvPicPr>
              <p:cNvPr id="5" name="Picture 4" descr="A black screen with white text&#10;&#10;AI-generated content may be incorrect.">
                <a:extLst>
                  <a:ext uri="{FF2B5EF4-FFF2-40B4-BE49-F238E27FC236}">
                    <a16:creationId xmlns:a16="http://schemas.microsoft.com/office/drawing/2014/main" id="{56CC65E7-2A32-EB02-2E89-0AB6DF9A3D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r="3024" b="35174"/>
              <a:stretch>
                <a:fillRect/>
              </a:stretch>
            </p:blipFill>
            <p:spPr>
              <a:xfrm>
                <a:off x="7412355" y="2083118"/>
                <a:ext cx="4507865" cy="1224281"/>
              </a:xfrm>
              <a:prstGeom prst="rect">
                <a:avLst/>
              </a:prstGeom>
            </p:spPr>
          </p:pic>
          <p:pic>
            <p:nvPicPr>
              <p:cNvPr id="10" name="Picture 9" descr="A black background with white numbers&#10;&#10;AI-generated content may be incorrect.">
                <a:extLst>
                  <a:ext uri="{FF2B5EF4-FFF2-40B4-BE49-F238E27FC236}">
                    <a16:creationId xmlns:a16="http://schemas.microsoft.com/office/drawing/2014/main" id="{A41261D1-B57E-F110-B621-43AE4246EE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55531" y="5262252"/>
                <a:ext cx="9526588" cy="1440798"/>
              </a:xfrm>
              <a:prstGeom prst="rect">
                <a:avLst/>
              </a:prstGeom>
            </p:spPr>
          </p:pic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E9319A3-FC6B-7899-6D2C-F56A53FBEE70}"/>
                  </a:ext>
                </a:extLst>
              </p:cNvPr>
              <p:cNvSpPr/>
              <p:nvPr/>
            </p:nvSpPr>
            <p:spPr>
              <a:xfrm>
                <a:off x="9753600" y="824549"/>
                <a:ext cx="1382712" cy="216851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74478DB-F76C-8588-689B-A4258BE1E99E}"/>
                  </a:ext>
                </a:extLst>
              </p:cNvPr>
              <p:cNvSpPr/>
              <p:nvPr/>
            </p:nvSpPr>
            <p:spPr>
              <a:xfrm>
                <a:off x="10312399" y="2044388"/>
                <a:ext cx="1569719" cy="241612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5C2E1B3-7472-2C66-6F2E-B3000B197CAA}"/>
                  </a:ext>
                </a:extLst>
              </p:cNvPr>
              <p:cNvSpPr/>
              <p:nvPr/>
            </p:nvSpPr>
            <p:spPr>
              <a:xfrm>
                <a:off x="4713287" y="5211452"/>
                <a:ext cx="1636711" cy="260700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A7AB368-A3C3-D85B-7E80-0C709407043B}"/>
                </a:ext>
              </a:extLst>
            </p:cNvPr>
            <p:cNvSpPr/>
            <p:nvPr/>
          </p:nvSpPr>
          <p:spPr>
            <a:xfrm>
              <a:off x="9037320" y="3226527"/>
              <a:ext cx="2199481" cy="24272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文本框 5">
            <a:extLst>
              <a:ext uri="{FF2B5EF4-FFF2-40B4-BE49-F238E27FC236}">
                <a16:creationId xmlns:a16="http://schemas.microsoft.com/office/drawing/2014/main" id="{7DEEA375-DB9D-DCC7-04A6-0FA79ACBEEB6}"/>
              </a:ext>
            </a:extLst>
          </p:cNvPr>
          <p:cNvSpPr txBox="1"/>
          <p:nvPr/>
        </p:nvSpPr>
        <p:spPr>
          <a:xfrm>
            <a:off x="470904" y="2494664"/>
            <a:ext cx="4275455" cy="7386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latin typeface="Courier New" panose="02070309020205020404"/>
                <a:ea typeface="Calibri" panose="020F0502020204030204"/>
                <a:cs typeface="Calibri" panose="020F0502020204030204"/>
              </a:rPr>
              <a:t>cp ../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/>
                <a:ea typeface="Calibri" panose="020F0502020204030204"/>
                <a:cs typeface="Calibri" panose="020F0502020204030204"/>
                <a:sym typeface="+mn-ea"/>
              </a:rPr>
              <a:t>course-project-1-Subfamily-classification-of-glycoside-hydrolase-family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/>
                <a:ea typeface="Calibri" panose="020F0502020204030204"/>
                <a:cs typeface="Calibri" panose="020F0502020204030204"/>
              </a:rPr>
              <a:t>/</a:t>
            </a:r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/>
                <a:ea typeface="Calibri" panose="020F0502020204030204"/>
                <a:cs typeface="Calibri" panose="020F0502020204030204"/>
              </a:rPr>
              <a:t>analysis_mapped.py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/>
                <a:ea typeface="Calibri" panose="020F0502020204030204"/>
                <a:cs typeface="Calibri" panose="020F0502020204030204"/>
              </a:rPr>
              <a:t> 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278D46-9106-4F12-FDF6-0F12E22717DE}"/>
              </a:ext>
            </a:extLst>
          </p:cNvPr>
          <p:cNvSpPr txBox="1"/>
          <p:nvPr/>
        </p:nvSpPr>
        <p:spPr>
          <a:xfrm>
            <a:off x="334010" y="3444993"/>
            <a:ext cx="42754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latin typeface="Courier New" panose="02070309020205020404"/>
                <a:ea typeface="Calibri" panose="020F0502020204030204"/>
                <a:cs typeface="Calibri" panose="020F0502020204030204"/>
              </a:rPr>
              <a:t>nano </a:t>
            </a:r>
            <a:r>
              <a:rPr lang="en-US" altLang="zh-CN" sz="1600" dirty="0" err="1">
                <a:solidFill>
                  <a:srgbClr val="000000"/>
                </a:solidFill>
                <a:latin typeface="Courier New" panose="02070309020205020404"/>
                <a:ea typeface="Calibri" panose="020F0502020204030204"/>
                <a:cs typeface="Calibri" panose="020F0502020204030204"/>
                <a:sym typeface="+mn-ea"/>
              </a:rPr>
              <a:t>analysis_mapped.py</a:t>
            </a:r>
            <a:endParaRPr lang="en-US" altLang="zh-CN" sz="1600" dirty="0">
              <a:solidFill>
                <a:srgbClr val="000000"/>
              </a:solidFill>
              <a:latin typeface="Courier New" panose="02070309020205020404"/>
              <a:ea typeface="Calibri" panose="020F0502020204030204"/>
              <a:cs typeface="Calibri" panose="020F0502020204030204"/>
              <a:sym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420A65-14AB-30D7-2F63-38EF1342A7DE}"/>
              </a:ext>
            </a:extLst>
          </p:cNvPr>
          <p:cNvSpPr txBox="1"/>
          <p:nvPr/>
        </p:nvSpPr>
        <p:spPr>
          <a:xfrm>
            <a:off x="334010" y="4006162"/>
            <a:ext cx="45526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latin typeface="Courier New" panose="02070309020205020404"/>
                <a:ea typeface="Calibri" panose="020F0502020204030204"/>
                <a:cs typeface="Calibri" panose="020F0502020204030204"/>
              </a:rPr>
              <a:t>python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00FFFF"/>
                </a:highlight>
                <a:latin typeface="Courier New" panose="02070309020205020404"/>
                <a:ea typeface="Calibri" panose="020F0502020204030204"/>
                <a:cs typeface="Calibri" panose="020F0502020204030204"/>
              </a:rPr>
              <a:t>analysis_mapped.py</a:t>
            </a:r>
            <a:endParaRPr lang="en-GB" altLang="zh-CN" sz="1600" dirty="0">
              <a:highlight>
                <a:srgbClr val="00FFFF"/>
              </a:highlight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Cytoscape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>
                <a:ea typeface="+mn-lt"/>
                <a:cs typeface="+mn-lt"/>
              </a:rPr>
              <a:t>Create your part_5 folder</a:t>
            </a:r>
          </a:p>
          <a:p>
            <a:r>
              <a:rPr lang="en-US" dirty="0" err="1"/>
              <a:t>mkdir</a:t>
            </a:r>
            <a:r>
              <a:rPr lang="en-US" dirty="0"/>
              <a:t> part_5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39382" y="826135"/>
            <a:ext cx="11714480" cy="8478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  <a:ea typeface="等线" panose="02010600030101010101" charset="-122"/>
                <a:cs typeface="+mn-lt"/>
              </a:rPr>
              <a:t>Using</a:t>
            </a:r>
            <a:r>
              <a:rPr lang="zh-CN" altLang="en-US" sz="2400" dirty="0">
                <a:solidFill>
                  <a:srgbClr val="000000"/>
                </a:solidFill>
                <a:ea typeface="等线" panose="02010600030101010101" charset="-122"/>
                <a:cs typeface="+mn-lt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ea typeface="等线" panose="02010600030101010101" charset="-122"/>
                <a:cs typeface="+mn-lt"/>
              </a:rPr>
              <a:t>the</a:t>
            </a:r>
            <a:r>
              <a:rPr lang="zh-CN" altLang="en-US" sz="2400" dirty="0">
                <a:solidFill>
                  <a:srgbClr val="000000"/>
                </a:solidFill>
                <a:ea typeface="等线" panose="02010600030101010101" charset="-122"/>
                <a:cs typeface="+mn-lt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ea typeface="等线" panose="02010600030101010101" charset="-122"/>
                <a:cs typeface="+mn-lt"/>
              </a:rPr>
              <a:t>desktop</a:t>
            </a:r>
            <a:r>
              <a:rPr lang="zh-CN" altLang="en-US" sz="2400" dirty="0">
                <a:solidFill>
                  <a:srgbClr val="000000"/>
                </a:solidFill>
                <a:ea typeface="等线" panose="02010600030101010101" charset="-122"/>
                <a:cs typeface="+mn-lt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ea typeface="等线" panose="02010600030101010101" charset="-122"/>
                <a:cs typeface="+mn-lt"/>
              </a:rPr>
              <a:t>and</a:t>
            </a:r>
            <a:r>
              <a:rPr lang="zh-CN" altLang="en-US" sz="2400" dirty="0">
                <a:solidFill>
                  <a:srgbClr val="000000"/>
                </a:solidFill>
                <a:ea typeface="等线" panose="02010600030101010101" charset="-122"/>
                <a:cs typeface="+mn-lt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ea typeface="等线" panose="02010600030101010101" charset="-122"/>
                <a:cs typeface="+mn-lt"/>
              </a:rPr>
              <a:t>click</a:t>
            </a:r>
            <a:r>
              <a:rPr lang="zh-CN" altLang="en-US" sz="2400" dirty="0">
                <a:solidFill>
                  <a:srgbClr val="000000"/>
                </a:solidFill>
                <a:ea typeface="等线" panose="02010600030101010101" charset="-122"/>
                <a:cs typeface="+mn-lt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ea typeface="等线" panose="02010600030101010101" charset="-122"/>
                <a:cs typeface="+mn-lt"/>
              </a:rPr>
              <a:t>the</a:t>
            </a:r>
            <a:r>
              <a:rPr lang="zh-CN" altLang="en-US" sz="2400" dirty="0">
                <a:solidFill>
                  <a:srgbClr val="000000"/>
                </a:solidFill>
                <a:ea typeface="等线" panose="02010600030101010101" charset="-122"/>
                <a:cs typeface="+mn-lt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ea typeface="等线" panose="02010600030101010101" charset="-122"/>
                <a:cs typeface="+mn-lt"/>
              </a:rPr>
              <a:t>terminal</a:t>
            </a:r>
            <a:r>
              <a:rPr lang="zh-CN" altLang="en-US" sz="2400" dirty="0">
                <a:solidFill>
                  <a:srgbClr val="000000"/>
                </a:solidFill>
                <a:ea typeface="等线" panose="02010600030101010101" charset="-122"/>
                <a:cs typeface="+mn-lt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ea typeface="等线" panose="02010600030101010101" charset="-122"/>
                <a:cs typeface="+mn-lt"/>
              </a:rPr>
              <a:t>on</a:t>
            </a:r>
            <a:r>
              <a:rPr lang="zh-CN" altLang="en-US" sz="2400" dirty="0">
                <a:solidFill>
                  <a:srgbClr val="000000"/>
                </a:solidFill>
                <a:ea typeface="等线" panose="02010600030101010101" charset="-122"/>
                <a:cs typeface="+mn-lt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ea typeface="等线" panose="02010600030101010101" charset="-122"/>
                <a:cs typeface="+mn-lt"/>
              </a:rPr>
              <a:t>the</a:t>
            </a:r>
            <a:r>
              <a:rPr lang="zh-CN" altLang="en-US" sz="2400" dirty="0">
                <a:solidFill>
                  <a:srgbClr val="000000"/>
                </a:solidFill>
                <a:ea typeface="等线" panose="02010600030101010101" charset="-122"/>
                <a:cs typeface="+mn-lt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ea typeface="等线" panose="02010600030101010101" charset="-122"/>
                <a:cs typeface="+mn-lt"/>
              </a:rPr>
              <a:t>left</a:t>
            </a:r>
            <a:r>
              <a:rPr lang="zh-CN" altLang="en-US" sz="2400" dirty="0">
                <a:solidFill>
                  <a:srgbClr val="000000"/>
                </a:solidFill>
                <a:ea typeface="等线" panose="02010600030101010101" charset="-122"/>
                <a:cs typeface="+mn-lt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ea typeface="等线" panose="02010600030101010101" charset="-122"/>
                <a:cs typeface="+mn-lt"/>
              </a:rPr>
              <a:t>of</a:t>
            </a:r>
            <a:r>
              <a:rPr lang="zh-CN" altLang="en-US" sz="2400" dirty="0">
                <a:solidFill>
                  <a:srgbClr val="000000"/>
                </a:solidFill>
                <a:ea typeface="等线" panose="02010600030101010101" charset="-122"/>
                <a:cs typeface="+mn-lt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ea typeface="等线" panose="02010600030101010101" charset="-122"/>
                <a:cs typeface="+mn-lt"/>
              </a:rPr>
              <a:t>“</a:t>
            </a:r>
            <a:r>
              <a:rPr lang="en-US" sz="2400" dirty="0">
                <a:solidFill>
                  <a:srgbClr val="000000"/>
                </a:solidFill>
                <a:ea typeface="等线" panose="02010600030101010101" charset="-122"/>
                <a:cs typeface="+mn-lt"/>
              </a:rPr>
              <a:t>Applications</a:t>
            </a:r>
            <a:r>
              <a:rPr lang="en-US" altLang="zh-CN" sz="2400" dirty="0">
                <a:solidFill>
                  <a:srgbClr val="000000"/>
                </a:solidFill>
                <a:ea typeface="等线" panose="02010600030101010101" charset="-122"/>
                <a:cs typeface="+mn-lt"/>
              </a:rPr>
              <a:t>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cs typeface="+mn-lt"/>
              </a:rPr>
              <a:t>Type:</a:t>
            </a:r>
            <a:endParaRPr lang="en-US" altLang="zh-CN" sz="2400" dirty="0">
              <a:solidFill>
                <a:srgbClr val="000000"/>
              </a:solidFill>
              <a:latin typeface="Aptos Mono"/>
            </a:endParaRPr>
          </a:p>
          <a:p>
            <a:endParaRPr lang="en-GB" altLang="zh-CN" sz="2400" dirty="0"/>
          </a:p>
          <a:p>
            <a:endParaRPr lang="en-GB" altLang="zh-CN" sz="2400" dirty="0"/>
          </a:p>
          <a:p>
            <a:endParaRPr lang="zh-CN" altLang="en-US" sz="2400" dirty="0"/>
          </a:p>
        </p:txBody>
      </p:sp>
      <p:sp>
        <p:nvSpPr>
          <p:cNvPr id="5" name="文本框 4"/>
          <p:cNvSpPr txBox="1"/>
          <p:nvPr/>
        </p:nvSpPr>
        <p:spPr>
          <a:xfrm>
            <a:off x="326390" y="180975"/>
            <a:ext cx="113404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5.1 - Loading and Organizing Network in </a:t>
            </a:r>
            <a:r>
              <a:rPr lang="en-US" altLang="zh-CN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Cytoscape</a:t>
            </a:r>
            <a:endParaRPr lang="en-US" altLang="zh-C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rcRect r="53011"/>
          <a:stretch>
            <a:fillRect/>
          </a:stretch>
        </p:blipFill>
        <p:spPr>
          <a:xfrm>
            <a:off x="583565" y="2700020"/>
            <a:ext cx="2145665" cy="336486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rcRect r="11616" b="7917"/>
          <a:stretch>
            <a:fillRect/>
          </a:stretch>
        </p:blipFill>
        <p:spPr>
          <a:xfrm>
            <a:off x="3690620" y="2778125"/>
            <a:ext cx="3733165" cy="283019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810" y="2778125"/>
            <a:ext cx="3564890" cy="2678430"/>
          </a:xfrm>
          <a:prstGeom prst="rect">
            <a:avLst/>
          </a:prstGeom>
        </p:spPr>
      </p:pic>
      <p:sp>
        <p:nvSpPr>
          <p:cNvPr id="14" name="右箭头 13"/>
          <p:cNvSpPr/>
          <p:nvPr/>
        </p:nvSpPr>
        <p:spPr>
          <a:xfrm>
            <a:off x="2919730" y="3776345"/>
            <a:ext cx="658495" cy="603250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右箭头 14"/>
          <p:cNvSpPr/>
          <p:nvPr/>
        </p:nvSpPr>
        <p:spPr>
          <a:xfrm>
            <a:off x="7613015" y="3776345"/>
            <a:ext cx="658495" cy="603250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2776EB-59AB-BEC8-DD6C-EFAF1DC79FFE}"/>
              </a:ext>
            </a:extLst>
          </p:cNvPr>
          <p:cNvSpPr txBox="1"/>
          <p:nvPr/>
        </p:nvSpPr>
        <p:spPr>
          <a:xfrm>
            <a:off x="1160272" y="156094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ml</a:t>
            </a:r>
            <a:r>
              <a:rPr lang="zh-CN" altLang="en-US" sz="1800" dirty="0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cytoscape</a:t>
            </a:r>
            <a:r>
              <a:rPr lang="en-US" altLang="zh-CN" sz="1800" dirty="0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/3.10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50F4A8-7C3F-A91B-F0D6-C2D696C150E9}"/>
              </a:ext>
            </a:extLst>
          </p:cNvPr>
          <p:cNvSpPr txBox="1"/>
          <p:nvPr/>
        </p:nvSpPr>
        <p:spPr>
          <a:xfrm>
            <a:off x="1160272" y="1856724"/>
            <a:ext cx="21456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 err="1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cytoscape.sh</a:t>
            </a:r>
            <a:endParaRPr lang="en-US" altLang="zh-CN" sz="1800" dirty="0">
              <a:solidFill>
                <a:srgbClr val="000000"/>
              </a:solidFill>
              <a:latin typeface="Courier New" panose="02070309020205020404"/>
              <a:ea typeface="等线" panose="02010600030101010101" charset="-122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26390" y="180975"/>
            <a:ext cx="113404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5.1 - Loading and Organizing Network in </a:t>
            </a:r>
            <a:r>
              <a:rPr lang="en-US" altLang="zh-CN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Cytoscape</a:t>
            </a:r>
            <a:endParaRPr lang="en-US" altLang="zh-C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44500" y="1128395"/>
            <a:ext cx="4064000" cy="1599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/>
              <a:t>Loading input files: </a:t>
            </a:r>
            <a:r>
              <a:rPr lang="en-US" altLang="zh-CN" sz="2000" dirty="0" err="1">
                <a:highlight>
                  <a:srgbClr val="FFFF00"/>
                </a:highlight>
                <a:sym typeface="+mn-ea"/>
              </a:rPr>
              <a:t>NETWORK_cs_ev_XX_.txt</a:t>
            </a:r>
            <a:r>
              <a:rPr lang="en-US" altLang="zh-CN" sz="2000" dirty="0">
                <a:highlight>
                  <a:srgbClr val="FFFF00"/>
                </a:highlight>
                <a:sym typeface="+mn-ea"/>
              </a:rPr>
              <a:t>, </a:t>
            </a:r>
            <a:r>
              <a:rPr lang="en-US" altLang="zh-CN" sz="2000" dirty="0" err="1">
                <a:highlight>
                  <a:srgbClr val="FFFF00"/>
                </a:highlight>
                <a:sym typeface="+mn-ea"/>
              </a:rPr>
              <a:t>GROUPS_XXX_info.txt</a:t>
            </a:r>
            <a:r>
              <a:rPr lang="en-US" altLang="zh-CN" sz="2000" dirty="0">
                <a:highlight>
                  <a:srgbClr val="FFFF00"/>
                </a:highlight>
                <a:sym typeface="+mn-ea"/>
              </a:rPr>
              <a:t>, </a:t>
            </a:r>
            <a:r>
              <a:rPr lang="en-US" altLang="zh-CN" sz="2000" dirty="0" err="1">
                <a:highlight>
                  <a:srgbClr val="FFFF00"/>
                </a:highlight>
                <a:sym typeface="+mn-ea"/>
              </a:rPr>
              <a:t>NodeTable_cs.txt</a:t>
            </a:r>
            <a:endParaRPr lang="en-US" altLang="zh-CN" sz="2000" dirty="0">
              <a:sym typeface="+mn-ea"/>
            </a:endParaRPr>
          </a:p>
          <a:p>
            <a:r>
              <a:rPr lang="en-US" altLang="zh-CN" dirty="0"/>
              <a:t> 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6005195" y="986155"/>
            <a:ext cx="4156710" cy="1389380"/>
            <a:chOff x="9457" y="1553"/>
            <a:chExt cx="6546" cy="2188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rcRect b="51887"/>
            <a:stretch>
              <a:fillRect/>
            </a:stretch>
          </p:blipFill>
          <p:spPr>
            <a:xfrm>
              <a:off x="9457" y="1553"/>
              <a:ext cx="6547" cy="2188"/>
            </a:xfrm>
            <a:prstGeom prst="rect">
              <a:avLst/>
            </a:prstGeom>
          </p:spPr>
        </p:pic>
        <p:sp>
          <p:nvSpPr>
            <p:cNvPr id="13" name="矩形 12"/>
            <p:cNvSpPr/>
            <p:nvPr/>
          </p:nvSpPr>
          <p:spPr>
            <a:xfrm>
              <a:off x="11140" y="2130"/>
              <a:ext cx="510" cy="46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lumMod val="40000"/>
                      <a:lumOff val="60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5806440" y="2999740"/>
            <a:ext cx="2515870" cy="1511935"/>
            <a:chOff x="9715" y="4641"/>
            <a:chExt cx="4426" cy="2962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715" y="4641"/>
              <a:ext cx="4426" cy="2962"/>
            </a:xfrm>
            <a:prstGeom prst="rect">
              <a:avLst/>
            </a:prstGeom>
          </p:spPr>
        </p:pic>
        <p:sp>
          <p:nvSpPr>
            <p:cNvPr id="14" name="矩形 13"/>
            <p:cNvSpPr/>
            <p:nvPr/>
          </p:nvSpPr>
          <p:spPr>
            <a:xfrm>
              <a:off x="12375" y="4935"/>
              <a:ext cx="510" cy="46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lumMod val="40000"/>
                      <a:lumOff val="60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4770" y="2924175"/>
            <a:ext cx="2395220" cy="158750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8878570" y="25355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*find your network file and click open</a:t>
            </a:r>
          </a:p>
        </p:txBody>
      </p:sp>
      <p:sp>
        <p:nvSpPr>
          <p:cNvPr id="18" name="右箭头 17"/>
          <p:cNvSpPr/>
          <p:nvPr/>
        </p:nvSpPr>
        <p:spPr>
          <a:xfrm rot="5400000">
            <a:off x="6965315" y="2489835"/>
            <a:ext cx="392430" cy="313055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右箭头 18"/>
          <p:cNvSpPr/>
          <p:nvPr/>
        </p:nvSpPr>
        <p:spPr>
          <a:xfrm>
            <a:off x="8442325" y="3621405"/>
            <a:ext cx="392430" cy="313055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23" name="组合 22"/>
          <p:cNvGrpSpPr/>
          <p:nvPr/>
        </p:nvGrpSpPr>
        <p:grpSpPr>
          <a:xfrm>
            <a:off x="444500" y="2793365"/>
            <a:ext cx="5044440" cy="1968500"/>
            <a:chOff x="700" y="4065"/>
            <a:chExt cx="7944" cy="3100"/>
          </a:xfrm>
        </p:grpSpPr>
        <p:sp>
          <p:nvSpPr>
            <p:cNvPr id="2" name="文本框 1"/>
            <p:cNvSpPr txBox="1"/>
            <p:nvPr/>
          </p:nvSpPr>
          <p:spPr>
            <a:xfrm>
              <a:off x="700" y="4065"/>
              <a:ext cx="7944" cy="31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l"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zh-CN" sz="2000" dirty="0">
                  <a:solidFill>
                    <a:srgbClr val="000000"/>
                  </a:solidFill>
                  <a:ea typeface="等线" panose="02010600030101010101" charset="-122"/>
                  <a:cs typeface="+mn-lt"/>
                  <a:sym typeface="+mn-ea"/>
                </a:rPr>
                <a:t>Click the      to import </a:t>
              </a:r>
              <a:r>
                <a:rPr lang="en-US" altLang="zh-CN" sz="2000" b="1">
                  <a:sym typeface="+mn-ea"/>
                </a:rPr>
                <a:t>NETWORK_cs_ev_XX_.txt</a:t>
              </a:r>
            </a:p>
            <a:p>
              <a:pPr marL="285750" indent="-285750" algn="l">
                <a:buClrTx/>
                <a:buSzTx/>
                <a:buFont typeface="Arial" panose="020B0604020202020204" pitchFamily="34" charset="0"/>
                <a:buChar char="•"/>
              </a:pPr>
              <a:endParaRPr lang="en-US" altLang="zh-CN" sz="2400" dirty="0">
                <a:solidFill>
                  <a:srgbClr val="000000"/>
                </a:solidFill>
                <a:ea typeface="等线" panose="02010600030101010101" charset="-122"/>
                <a:cs typeface="+mn-lt"/>
              </a:endParaRPr>
            </a:p>
            <a:p>
              <a:pPr marL="285750" indent="-285750" algn="l"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zh-CN" sz="2000" dirty="0">
                  <a:solidFill>
                    <a:srgbClr val="000000"/>
                  </a:solidFill>
                  <a:ea typeface="等线" panose="02010600030101010101" charset="-122"/>
                  <a:cs typeface="+mn-lt"/>
                  <a:sym typeface="+mn-ea"/>
                </a:rPr>
                <a:t>Click the      to import </a:t>
              </a:r>
              <a:r>
                <a:rPr lang="en-US" altLang="zh-CN" sz="2000" b="1">
                  <a:sym typeface="+mn-ea"/>
                </a:rPr>
                <a:t>GROUPS_XXX_info.txt, NodeTable_cs.txt</a:t>
              </a:r>
            </a:p>
            <a:p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670" y="4065"/>
              <a:ext cx="480" cy="540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670" y="5608"/>
              <a:ext cx="528" cy="588"/>
            </a:xfrm>
            <a:prstGeom prst="rect">
              <a:avLst/>
            </a:prstGeom>
          </p:spPr>
        </p:pic>
      </p:grpSp>
      <p:pic>
        <p:nvPicPr>
          <p:cNvPr id="22" name="图片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8865" y="4993640"/>
            <a:ext cx="3850640" cy="140716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26390" y="180975"/>
            <a:ext cx="113404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5.1 - Loading and Organizing Network in </a:t>
            </a:r>
            <a:r>
              <a:rPr lang="en-US" altLang="zh-CN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Cytoscape</a:t>
            </a:r>
            <a:endParaRPr lang="en-US" altLang="zh-C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678180" y="1472565"/>
            <a:ext cx="10841990" cy="5161915"/>
            <a:chOff x="351" y="1539"/>
            <a:chExt cx="17074" cy="8129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1" y="1807"/>
              <a:ext cx="4542" cy="359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rcRect r="16077"/>
            <a:stretch>
              <a:fillRect/>
            </a:stretch>
          </p:blipFill>
          <p:spPr>
            <a:xfrm>
              <a:off x="3294" y="2370"/>
              <a:ext cx="7966" cy="4860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672" y="6458"/>
              <a:ext cx="5753" cy="3211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1617" y="1539"/>
              <a:ext cx="5808" cy="2904"/>
            </a:xfrm>
            <a:prstGeom prst="rect">
              <a:avLst/>
            </a:prstGeom>
          </p:spPr>
        </p:pic>
        <p:cxnSp>
          <p:nvCxnSpPr>
            <p:cNvPr id="9" name="直接箭头连接符 8"/>
            <p:cNvCxnSpPr/>
            <p:nvPr/>
          </p:nvCxnSpPr>
          <p:spPr>
            <a:xfrm flipV="1">
              <a:off x="2500" y="3570"/>
              <a:ext cx="3695" cy="405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" name="直接箭头连接符 11"/>
            <p:cNvCxnSpPr/>
            <p:nvPr/>
          </p:nvCxnSpPr>
          <p:spPr>
            <a:xfrm flipH="1">
              <a:off x="8515" y="2670"/>
              <a:ext cx="4410" cy="87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" name="直接箭头连接符 12"/>
            <p:cNvCxnSpPr/>
            <p:nvPr/>
          </p:nvCxnSpPr>
          <p:spPr>
            <a:xfrm flipH="1" flipV="1">
              <a:off x="10620" y="3740"/>
              <a:ext cx="2440" cy="4075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7" name="文本框 16"/>
          <p:cNvSpPr txBox="1"/>
          <p:nvPr/>
        </p:nvSpPr>
        <p:spPr>
          <a:xfrm>
            <a:off x="326390" y="933450"/>
            <a:ext cx="62357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/>
              <a:t>NodeTable will generate in Cytoscape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44170" y="967740"/>
            <a:ext cx="12371705" cy="27997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等线" panose="02010600030101010101" charset="-122"/>
                <a:cs typeface="+mn-lt"/>
                <a:sym typeface="+mn-ea"/>
              </a:rPr>
              <a:t>Use a </a:t>
            </a:r>
            <a:r>
              <a:rPr lang="en-US" altLang="zh-CN" sz="2000" dirty="0">
                <a:solidFill>
                  <a:srgbClr val="FF0000"/>
                </a:solidFill>
                <a:ea typeface="等线" panose="02010600030101010101" charset="-122"/>
                <a:cs typeface="+mn-lt"/>
                <a:sym typeface="+mn-ea"/>
              </a:rPr>
              <a:t>yFiles Organic layout</a:t>
            </a:r>
            <a:r>
              <a:rPr lang="en-US" altLang="zh-CN" sz="2000" dirty="0">
                <a:solidFill>
                  <a:srgbClr val="000000"/>
                </a:solidFill>
                <a:ea typeface="等线" panose="02010600030101010101" charset="-122"/>
                <a:cs typeface="+mn-lt"/>
                <a:sym typeface="+mn-ea"/>
              </a:rPr>
              <a:t> from the layout panel. (Install if not available) </a:t>
            </a:r>
            <a:endParaRPr lang="en-US" altLang="zh-CN" sz="2000" dirty="0">
              <a:solidFill>
                <a:srgbClr val="000000"/>
              </a:solidFill>
              <a:ea typeface="等线" panose="02010600030101010101" charset="-122"/>
              <a:cs typeface="+mn-lt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000000"/>
              </a:solidFill>
              <a:ea typeface="等线" panose="02010600030101010101" charset="-122"/>
              <a:cs typeface="+mn-lt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等线" panose="02010600030101010101" charset="-122"/>
                <a:cs typeface="+mn-lt"/>
              </a:rPr>
              <a:t>Check different </a:t>
            </a:r>
            <a:r>
              <a:rPr lang="en-US" altLang="zh-CN" sz="2000" dirty="0">
                <a:solidFill>
                  <a:srgbClr val="FF0000"/>
                </a:solidFill>
                <a:ea typeface="等线" panose="02010600030101010101" charset="-122"/>
                <a:cs typeface="+mn-lt"/>
              </a:rPr>
              <a:t>nodes (proteins)</a:t>
            </a:r>
            <a:r>
              <a:rPr lang="en-US" altLang="zh-CN" sz="2000" dirty="0">
                <a:solidFill>
                  <a:srgbClr val="000000"/>
                </a:solidFill>
                <a:ea typeface="等线" panose="02010600030101010101" charset="-122"/>
                <a:cs typeface="+mn-lt"/>
              </a:rPr>
              <a:t> and </a:t>
            </a:r>
            <a:r>
              <a:rPr lang="en-US" altLang="zh-CN" sz="2000" dirty="0">
                <a:solidFill>
                  <a:srgbClr val="FF0000"/>
                </a:solidFill>
                <a:ea typeface="等线" panose="02010600030101010101" charset="-122"/>
                <a:cs typeface="+mn-lt"/>
              </a:rPr>
              <a:t>subfamilies (clusters)</a:t>
            </a:r>
            <a:r>
              <a:rPr lang="en-US" altLang="zh-CN" sz="2000" dirty="0">
                <a:solidFill>
                  <a:srgbClr val="000000"/>
                </a:solidFill>
                <a:ea typeface="等线" panose="02010600030101010101" charset="-122"/>
                <a:cs typeface="+mn-lt"/>
              </a:rPr>
              <a:t>, how they are aligned, etc.  </a:t>
            </a: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000000"/>
              </a:solidFill>
              <a:ea typeface="等线" panose="02010600030101010101" charset="-122"/>
              <a:cs typeface="+mn-lt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等线" panose="02010600030101010101" charset="-122"/>
                <a:cs typeface="+mn-lt"/>
              </a:rPr>
              <a:t>Modified colors based on the connected nodes and subfamilies.</a:t>
            </a: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rgbClr val="000000"/>
              </a:solidFill>
              <a:ea typeface="等线" panose="02010600030101010101" charset="-122"/>
              <a:cs typeface="+mn-lt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ea typeface="等线" panose="02010600030101010101" charset="-122"/>
                <a:cs typeface="+mn-lt"/>
              </a:rPr>
              <a:t>Click style icon and modify the fill color.</a:t>
            </a:r>
          </a:p>
          <a:p>
            <a:endParaRPr lang="en-GB" altLang="zh-CN" dirty="0"/>
          </a:p>
          <a:p>
            <a:endParaRPr lang="zh-CN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4245" y="2103120"/>
            <a:ext cx="4428490" cy="4335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267970" y="238125"/>
            <a:ext cx="113404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5.1 - Loading and Organizing Network in </a:t>
            </a:r>
            <a:r>
              <a:rPr lang="en-US" altLang="zh-CN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Cytoscape</a:t>
            </a:r>
            <a:endParaRPr lang="en-US" altLang="zh-C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rcRect l="4777" t="4545" r="8412" b="8058"/>
          <a:stretch>
            <a:fillRect/>
          </a:stretch>
        </p:blipFill>
        <p:spPr>
          <a:xfrm>
            <a:off x="895985" y="3294380"/>
            <a:ext cx="3277235" cy="314388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779034" cy="696554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Export the network to an Image or PDF</a:t>
            </a:r>
          </a:p>
        </p:txBody>
      </p:sp>
      <p:pic>
        <p:nvPicPr>
          <p:cNvPr id="7" name="Content Placeholder 6" descr="A screenshot of a computer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9582" y="4176323"/>
            <a:ext cx="3963951" cy="2467905"/>
          </a:xfrm>
        </p:spPr>
      </p:pic>
      <p:sp>
        <p:nvSpPr>
          <p:cNvPr id="8" name="TextBox 7"/>
          <p:cNvSpPr txBox="1"/>
          <p:nvPr/>
        </p:nvSpPr>
        <p:spPr>
          <a:xfrm>
            <a:off x="911805" y="3729938"/>
            <a:ext cx="458500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285750" indent="-285750">
              <a:buFont typeface="Arial" panose="020B0604020202020204"/>
              <a:buChar char="•"/>
            </a:pPr>
            <a:r>
              <a:rPr lang="en-US">
                <a:ea typeface="Calibri" panose="020F0502020204030204"/>
                <a:cs typeface="Calibri" panose="020F0502020204030204"/>
              </a:rPr>
              <a:t>Export the network to an Image or PDF</a:t>
            </a:r>
          </a:p>
        </p:txBody>
      </p:sp>
      <p:pic>
        <p:nvPicPr>
          <p:cNvPr id="9" name="Picture 8" descr="A screenshot of a computer&#10;&#10;Description automatically generate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881" y="1059410"/>
            <a:ext cx="4482860" cy="253944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9862" y="519023"/>
            <a:ext cx="539893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Searching the Characterized IDs in a network</a:t>
            </a:r>
            <a:endParaRPr lang="en-US" sz="2000" b="1" dirty="0"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00645" y="1018636"/>
            <a:ext cx="4752435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dirty="0"/>
              <a:t>Use the top right search box in the </a:t>
            </a:r>
            <a:r>
              <a:rPr lang="en-US" dirty="0" err="1"/>
              <a:t>Cytoscape</a:t>
            </a:r>
            <a:r>
              <a:rPr lang="en-US" dirty="0"/>
              <a:t> to find out the characterized to mark them differently.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i="1" dirty="0">
                <a:ea typeface="Calibri" panose="020F0502020204030204"/>
                <a:cs typeface="Calibri" panose="020F0502020204030204"/>
              </a:rPr>
              <a:t>Search format: </a:t>
            </a:r>
            <a:r>
              <a:rPr lang="en-US" i="1" dirty="0" err="1">
                <a:ea typeface="Calibri" panose="020F0502020204030204"/>
                <a:cs typeface="Calibri" panose="020F0502020204030204"/>
              </a:rPr>
              <a:t>name:YL</a:t>
            </a:r>
            <a:r>
              <a:rPr lang="en-US" i="1" dirty="0">
                <a:ea typeface="Calibri" panose="020F0502020204030204"/>
                <a:cs typeface="Calibri" panose="020F0502020204030204"/>
              </a:rPr>
              <a:t>*</a:t>
            </a:r>
          </a:p>
          <a:p>
            <a:r>
              <a:rPr lang="en-US" i="1" dirty="0"/>
              <a:t>Example search: </a:t>
            </a:r>
            <a:r>
              <a:rPr lang="en-US" i="1" dirty="0">
                <a:solidFill>
                  <a:srgbClr val="FF0000"/>
                </a:solidFill>
              </a:rPr>
              <a:t>name:BBM21771.1*</a:t>
            </a:r>
            <a:endParaRPr lang="en-US" i="1" dirty="0">
              <a:solidFill>
                <a:srgbClr val="FF0000"/>
              </a:solidFill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12" name="Picture 11" descr="A screenshot of a computer&#10;&#10;Description automatically generat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1108" y="2592378"/>
            <a:ext cx="5287992" cy="226990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58870" y="5100228"/>
            <a:ext cx="5396137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dirty="0">
                <a:ea typeface="Calibri" panose="020F0502020204030204"/>
                <a:cs typeface="Calibri" panose="020F0502020204030204"/>
              </a:rPr>
              <a:t>Here, we have selected the query "BBM21771"</a:t>
            </a:r>
            <a:br>
              <a:rPr lang="en-US" dirty="0">
                <a:ea typeface="Calibri" panose="020F0502020204030204"/>
                <a:cs typeface="Calibri" panose="020F0502020204030204"/>
              </a:rPr>
            </a:br>
            <a:br>
              <a:rPr lang="en-US" dirty="0">
                <a:ea typeface="Calibri" panose="020F0502020204030204"/>
                <a:cs typeface="Calibri" panose="020F0502020204030204"/>
              </a:rPr>
            </a:br>
            <a:r>
              <a:rPr lang="en-US" dirty="0">
                <a:ea typeface="Calibri" panose="020F0502020204030204"/>
                <a:cs typeface="Calibri" panose="020F0502020204030204"/>
              </a:rPr>
              <a:t>This query has </a:t>
            </a:r>
            <a:r>
              <a:rPr lang="en-US" dirty="0">
                <a:solidFill>
                  <a:srgbClr val="FF0000"/>
                </a:solidFill>
                <a:ea typeface="Calibri" panose="020F0502020204030204"/>
                <a:cs typeface="Calibri" panose="020F0502020204030204"/>
              </a:rPr>
              <a:t>1 node and 25 edges</a:t>
            </a:r>
            <a:r>
              <a:rPr lang="en-US" dirty="0">
                <a:ea typeface="Calibri" panose="020F0502020204030204"/>
                <a:cs typeface="Calibri" panose="020F0502020204030204"/>
              </a:rPr>
              <a:t>. All are highlighted here, which can be colored </a:t>
            </a:r>
            <a:r>
              <a:rPr lang="en-US" dirty="0" err="1">
                <a:ea typeface="Calibri" panose="020F0502020204030204"/>
                <a:cs typeface="Calibri" panose="020F0502020204030204"/>
              </a:rPr>
              <a:t>seperatly</a:t>
            </a:r>
            <a:r>
              <a:rPr lang="en-US" dirty="0">
                <a:ea typeface="Calibri" panose="020F0502020204030204"/>
                <a:cs typeface="Calibri" panose="020F0502020204030204"/>
              </a:rPr>
              <a:t> using the Style on the left panel. 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</a:t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Phylogenetic Analysis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19538"/>
            <a:ext cx="9144000" cy="1655762"/>
          </a:xfrm>
        </p:spPr>
        <p:txBody>
          <a:bodyPr/>
          <a:lstStyle/>
          <a:p>
            <a:r>
              <a:rPr lang="en-US" altLang="zh-CN" dirty="0">
                <a:ea typeface="+mn-lt"/>
                <a:cs typeface="+mn-lt"/>
              </a:rPr>
              <a:t>Create your part_6 folder</a:t>
            </a:r>
          </a:p>
          <a:p>
            <a:r>
              <a:rPr lang="en-US" altLang="zh-CN" dirty="0" err="1">
                <a:ea typeface="+mn-lt"/>
                <a:cs typeface="+mn-lt"/>
              </a:rPr>
              <a:t>mkdir</a:t>
            </a:r>
            <a:r>
              <a:rPr lang="en-US" altLang="zh-CN" dirty="0">
                <a:ea typeface="+mn-lt"/>
                <a:cs typeface="+mn-lt"/>
              </a:rPr>
              <a:t> part_6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19100" y="877570"/>
            <a:ext cx="5575300" cy="163121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ea typeface="等线" panose="02010600030101010101" charset="-122"/>
              </a:rPr>
              <a:t>Purpose: </a:t>
            </a:r>
            <a:r>
              <a:rPr lang="en-US" altLang="zh-CN" sz="2000" dirty="0">
                <a:ea typeface="等线" panose="02010600030101010101" charset="-122"/>
              </a:rPr>
              <a:t>Evaluate how well the SSN clusters (subfamilies) match phylogenetic classification. </a:t>
            </a:r>
          </a:p>
          <a:p>
            <a:endParaRPr lang="en-US" altLang="zh-C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zh-CN" sz="2000" dirty="0">
                <a:ea typeface="等线" panose="02010600030101010101" charset="-122"/>
              </a:rPr>
              <a:t>Use a python program to select random 30 sequences from each </a:t>
            </a:r>
            <a:r>
              <a:rPr lang="en-GB" altLang="zh-CN" sz="2000" dirty="0" err="1">
                <a:ea typeface="等线" panose="02010600030101010101" charset="-122"/>
              </a:rPr>
              <a:t>subfam</a:t>
            </a:r>
            <a:r>
              <a:rPr lang="en-US" altLang="en-GB" sz="2000" dirty="0" err="1">
                <a:ea typeface="等线" panose="02010600030101010101" charset="-122"/>
              </a:rPr>
              <a:t>ily</a:t>
            </a:r>
            <a:endParaRPr lang="zh-CN" altLang="en-US" sz="2000" dirty="0">
              <a:ea typeface="等线" panose="02010600030101010101" charset="-122"/>
              <a:cs typeface="Calibri" panose="020F05020202040302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2875" y="104775"/>
            <a:ext cx="102965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6.1 - Random Sampling for Phylogenetic Analysis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398703-E050-40B8-BBB0-ECF47337571D}"/>
              </a:ext>
            </a:extLst>
          </p:cNvPr>
          <p:cNvSpPr txBox="1"/>
          <p:nvPr/>
        </p:nvSpPr>
        <p:spPr>
          <a:xfrm>
            <a:off x="101600" y="5241766"/>
            <a:ext cx="528726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1800" dirty="0">
                <a:ea typeface="等线" panose="02010600030101010101" charset="-122"/>
              </a:rPr>
              <a:t>Check what are needed for the python program and change the </a:t>
            </a:r>
            <a:r>
              <a:rPr lang="en-US" altLang="zh-CN" sz="1800" dirty="0">
                <a:solidFill>
                  <a:srgbClr val="FF0000"/>
                </a:solidFill>
                <a:ea typeface="等线" panose="02010600030101010101" charset="-122"/>
              </a:rPr>
              <a:t>files pathway</a:t>
            </a:r>
            <a:r>
              <a:rPr lang="en-US" altLang="zh-CN" sz="1800" dirty="0">
                <a:highlight>
                  <a:srgbClr val="FFFF00"/>
                </a:highlight>
              </a:rPr>
              <a:t> </a:t>
            </a:r>
            <a:r>
              <a:rPr lang="en-US" altLang="zh-CN" sz="1800" dirty="0">
                <a:highlight>
                  <a:srgbClr val="FFFF00"/>
                </a:highlight>
                <a:sym typeface="+mn-ea"/>
              </a:rPr>
              <a:t>random_selected_extracted_domains_02.faa</a:t>
            </a:r>
            <a:r>
              <a:rPr lang="en-US" altLang="zh-CN" sz="1800" dirty="0">
                <a:highlight>
                  <a:srgbClr val="FFFF00"/>
                </a:highlight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highlight>
                  <a:srgbClr val="FFFF00"/>
                </a:highlight>
              </a:rPr>
              <a:t>analysis/</a:t>
            </a:r>
            <a:r>
              <a:rPr lang="en-US" altLang="zh-CN" sz="1800" dirty="0" err="1">
                <a:solidFill>
                  <a:schemeClr val="tx1"/>
                </a:solidFill>
                <a:highlight>
                  <a:srgbClr val="FFFF00"/>
                </a:highlight>
              </a:rPr>
              <a:t>GROUPS_XXX_Info.txt</a:t>
            </a:r>
            <a:r>
              <a:rPr lang="en-US" altLang="zh-CN" sz="1800" dirty="0">
                <a:highlight>
                  <a:srgbClr val="FFFF00"/>
                </a:highlight>
              </a:rPr>
              <a:t>  </a:t>
            </a:r>
            <a:r>
              <a:rPr lang="en-US" altLang="zh-CN" sz="1800" dirty="0" err="1">
                <a:solidFill>
                  <a:schemeClr val="tx1"/>
                </a:solidFill>
                <a:highlight>
                  <a:srgbClr val="FFFF00"/>
                </a:highlight>
              </a:rPr>
              <a:t>Characterized_ids.txt</a:t>
            </a:r>
            <a:endParaRPr lang="en-US" altLang="zh-CN" sz="1800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68DBB1-7A05-2045-23EE-913D4D7B24DA}"/>
              </a:ext>
            </a:extLst>
          </p:cNvPr>
          <p:cNvSpPr txBox="1"/>
          <p:nvPr/>
        </p:nvSpPr>
        <p:spPr>
          <a:xfrm>
            <a:off x="393700" y="4349278"/>
            <a:ext cx="56007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python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00FFFF"/>
                </a:highlight>
                <a:latin typeface="Courier New" panose="02070309020205020404"/>
                <a:ea typeface="等线" panose="02010600030101010101" charset="-122"/>
                <a:cs typeface="Courier New" panose="02070309020205020404"/>
                <a:sym typeface="+mn-ea"/>
              </a:rPr>
              <a:t>phylo_process_random.py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00FFFF"/>
                </a:highlight>
                <a:latin typeface="Courier New" panose="02070309020205020404"/>
                <a:ea typeface="等线" panose="02010600030101010101" charset="-122"/>
                <a:cs typeface="Courier New" panose="02070309020205020404"/>
                <a:sym typeface="+mn-ea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&gt; </a:t>
            </a:r>
            <a:r>
              <a:rPr lang="en-US" altLang="zh-CN" sz="1600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phylo_input_fasttree_100.fasta</a:t>
            </a:r>
            <a:endParaRPr lang="en-US" altLang="zh-CN" sz="1600" dirty="0">
              <a:solidFill>
                <a:srgbClr val="FF0000"/>
              </a:solidFill>
              <a:latin typeface="Courier New" panose="02070309020205020404"/>
              <a:ea typeface="等线" panose="02010600030101010101" charset="-122"/>
              <a:cs typeface="Courier New" panose="0207030902020502040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DB3ED8-88CF-4881-5D06-2A42A3FD371F}"/>
              </a:ext>
            </a:extLst>
          </p:cNvPr>
          <p:cNvSpPr txBox="1"/>
          <p:nvPr/>
        </p:nvSpPr>
        <p:spPr>
          <a:xfrm>
            <a:off x="393700" y="3824826"/>
            <a:ext cx="52872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nano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  <a:sym typeface="+mn-ea"/>
              </a:rPr>
              <a:t>phylo_process_random.py</a:t>
            </a:r>
            <a:endParaRPr lang="en-US" altLang="zh-CN" sz="1600" dirty="0">
              <a:solidFill>
                <a:srgbClr val="000000"/>
              </a:solidFill>
              <a:latin typeface="Courier New" panose="02070309020205020404"/>
              <a:ea typeface="等线" panose="02010600030101010101" charset="-122"/>
              <a:cs typeface="Courier New" panose="02070309020205020404"/>
              <a:sym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6E5EF6-CC14-5255-41E1-A1C5DAC318F1}"/>
              </a:ext>
            </a:extLst>
          </p:cNvPr>
          <p:cNvSpPr txBox="1"/>
          <p:nvPr/>
        </p:nvSpPr>
        <p:spPr>
          <a:xfrm>
            <a:off x="393700" y="2816241"/>
            <a:ext cx="54301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cp ../</a:t>
            </a:r>
            <a:r>
              <a:rPr kumimoji="1" lang="en-US" altLang="zh-CN" sz="1600" dirty="0">
                <a:latin typeface="Courier New" panose="02070309020205020404"/>
                <a:ea typeface="等线" panose="02010600030101010101" charset="-122"/>
                <a:cs typeface="Courier New" panose="02070309020205020404"/>
                <a:sym typeface="+mn-ea"/>
              </a:rPr>
              <a:t>course-project-1-Subfamily-classification-of-glycoside-hydrolase-family</a:t>
            </a:r>
            <a:r>
              <a:rPr lang="en-US" altLang="zh-CN" sz="1600" dirty="0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/</a:t>
            </a:r>
            <a:r>
              <a:rPr lang="en-US" altLang="zh-CN" sz="1600" dirty="0" err="1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phylo_process_random.py</a:t>
            </a:r>
            <a:r>
              <a:rPr lang="en-US" altLang="zh-CN" sz="1600" dirty="0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 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CAAFFB-67DB-F275-4B21-48FEFB8F0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2239" y="774002"/>
            <a:ext cx="6368161" cy="4915474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0E4071A-5ADD-B1E6-A319-6F2B88D548F0}"/>
              </a:ext>
            </a:extLst>
          </p:cNvPr>
          <p:cNvSpPr/>
          <p:nvPr/>
        </p:nvSpPr>
        <p:spPr>
          <a:xfrm>
            <a:off x="5994400" y="1168524"/>
            <a:ext cx="5328539" cy="73061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22B9F87-C00A-64AF-5A02-840A76D07CA8}"/>
              </a:ext>
            </a:extLst>
          </p:cNvPr>
          <p:cNvSpPr/>
          <p:nvPr/>
        </p:nvSpPr>
        <p:spPr>
          <a:xfrm>
            <a:off x="7166709" y="4818185"/>
            <a:ext cx="3164254" cy="30782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84175" y="133350"/>
            <a:ext cx="97116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6.2 - MAFFT Job Submission Script for Phylogenetic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4FCCBC-E61F-21C4-2DCC-3B439E95129E}"/>
              </a:ext>
            </a:extLst>
          </p:cNvPr>
          <p:cNvSpPr txBox="1"/>
          <p:nvPr/>
        </p:nvSpPr>
        <p:spPr>
          <a:xfrm>
            <a:off x="528636" y="839638"/>
            <a:ext cx="111347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cp ../</a:t>
            </a:r>
            <a:r>
              <a:rPr kumimoji="1" lang="en-US" altLang="zh-CN" sz="1600" dirty="0">
                <a:latin typeface="Courier New" panose="02070309020205020404"/>
                <a:ea typeface="等线" panose="02010600030101010101" charset="-122"/>
                <a:cs typeface="Courier New" panose="02070309020205020404"/>
                <a:sym typeface="+mn-ea"/>
              </a:rPr>
              <a:t>course-project-1-Subfamily-classification-of-glycoside-hydrolase-family</a:t>
            </a:r>
            <a:r>
              <a:rPr lang="en-US" altLang="zh-CN" sz="1600" dirty="0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/</a:t>
            </a:r>
            <a:r>
              <a:rPr lang="en-US" altLang="zh-CN" sz="1600" dirty="0" err="1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mafft.sh</a:t>
            </a:r>
            <a:r>
              <a:rPr lang="en-US" altLang="zh-CN" sz="1600" dirty="0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 .</a:t>
            </a:r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A5D8AC-071F-1BBE-038D-AACC0691F60F}"/>
              </a:ext>
            </a:extLst>
          </p:cNvPr>
          <p:cNvSpPr txBox="1"/>
          <p:nvPr/>
        </p:nvSpPr>
        <p:spPr>
          <a:xfrm>
            <a:off x="528635" y="1268739"/>
            <a:ext cx="1976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nano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mafft.sh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8D6947-21E7-01D6-065E-FE74E03F53F6}"/>
              </a:ext>
            </a:extLst>
          </p:cNvPr>
          <p:cNvSpPr txBox="1"/>
          <p:nvPr/>
        </p:nvSpPr>
        <p:spPr>
          <a:xfrm>
            <a:off x="528635" y="5530408"/>
            <a:ext cx="2252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sbatch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mafft.sh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D300116-0962-F57E-B2B0-9074E864A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635" y="1948550"/>
            <a:ext cx="11369859" cy="2960900"/>
          </a:xfrm>
          <a:prstGeom prst="rect">
            <a:avLst/>
          </a:prstGeom>
          <a:ln>
            <a:solidFill>
              <a:srgbClr val="FFFF00"/>
            </a:solidFill>
          </a:ln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EDDD3D6-3C1E-30A2-CFE1-12F8AD546D80}"/>
              </a:ext>
            </a:extLst>
          </p:cNvPr>
          <p:cNvSpPr/>
          <p:nvPr/>
        </p:nvSpPr>
        <p:spPr>
          <a:xfrm>
            <a:off x="8632556" y="4029560"/>
            <a:ext cx="3045436" cy="352528"/>
          </a:xfrm>
          <a:prstGeom prst="round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01955" y="178435"/>
            <a:ext cx="86658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6.3 - Constructing Phylogenetic Tree Using 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FastTree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2442591"/>
            <a:ext cx="10778490" cy="413448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01955" y="1929947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b="1">
                <a:ea typeface="等线" panose="02010600030101010101" charset="-122"/>
                <a:sym typeface="+mn-ea"/>
              </a:rPr>
              <a:t>Output: tree_e-100.nwk in newick format file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B51F6F-9DB1-F18C-9AAF-A8F40FC34708}"/>
              </a:ext>
            </a:extLst>
          </p:cNvPr>
          <p:cNvSpPr txBox="1"/>
          <p:nvPr/>
        </p:nvSpPr>
        <p:spPr>
          <a:xfrm>
            <a:off x="401955" y="6589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1800" dirty="0"/>
              <a:t>HCC module load FASTTREE  </a:t>
            </a:r>
            <a:endParaRPr lang="en-US" altLang="zh-CN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F24159-129A-460C-58E4-D596312CECD0}"/>
              </a:ext>
            </a:extLst>
          </p:cNvPr>
          <p:cNvSpPr txBox="1"/>
          <p:nvPr/>
        </p:nvSpPr>
        <p:spPr>
          <a:xfrm>
            <a:off x="755904" y="107741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1800" dirty="0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ml </a:t>
            </a:r>
            <a:r>
              <a:rPr lang="en-GB" altLang="zh-CN" sz="1800" dirty="0" err="1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fasttree</a:t>
            </a:r>
            <a:r>
              <a:rPr lang="en-GB" altLang="zh-CN" sz="1800" dirty="0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/2.1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34768A-0EEE-D38D-4ED7-6E39C1EB471C}"/>
              </a:ext>
            </a:extLst>
          </p:cNvPr>
          <p:cNvSpPr txBox="1"/>
          <p:nvPr/>
        </p:nvSpPr>
        <p:spPr>
          <a:xfrm>
            <a:off x="755904" y="1511579"/>
            <a:ext cx="105095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1800" dirty="0" err="1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fasttree</a:t>
            </a:r>
            <a:r>
              <a:rPr lang="en-GB" altLang="zh-CN" sz="1800" dirty="0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 -wag -boot 100 -out </a:t>
            </a:r>
            <a:r>
              <a:rPr lang="en-GB" altLang="zh-CN" sz="1800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tree_e-1</a:t>
            </a:r>
            <a:r>
              <a:rPr lang="en-US" altLang="en-GB" sz="1800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00</a:t>
            </a:r>
            <a:r>
              <a:rPr lang="en-GB" altLang="zh-CN" sz="1800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.</a:t>
            </a:r>
            <a:r>
              <a:rPr lang="en-GB" altLang="zh-CN" sz="1800" dirty="0" err="1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nwk</a:t>
            </a:r>
            <a:r>
              <a:rPr lang="en-GB" altLang="zh-CN" sz="1800" dirty="0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 phylo_mafft_align_1e-1</a:t>
            </a:r>
            <a:r>
              <a:rPr lang="en-US" altLang="en-GB" sz="1800" dirty="0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0</a:t>
            </a:r>
            <a:r>
              <a:rPr lang="en-GB" altLang="zh-CN" sz="1800" dirty="0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0.fasta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22250" y="788670"/>
            <a:ext cx="10531475" cy="132207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ea typeface="等线" panose="02010600030101010101" charset="-122"/>
              </a:rPr>
              <a:t>“</a:t>
            </a:r>
            <a:r>
              <a:rPr lang="en-US" altLang="zh-CN" sz="2000" dirty="0">
                <a:highlight>
                  <a:srgbClr val="FFFF00"/>
                </a:highlight>
                <a:ea typeface="等线" panose="02010600030101010101" charset="-122"/>
              </a:rPr>
              <a:t>tree_e-100.nwk</a:t>
            </a:r>
            <a:r>
              <a:rPr lang="en-US" altLang="zh-CN" sz="2000" dirty="0">
                <a:ea typeface="等线" panose="02010600030101010101" charset="-122"/>
              </a:rPr>
              <a:t>” can be visualized using the </a:t>
            </a:r>
            <a:r>
              <a:rPr lang="en-US" altLang="zh-CN" sz="2000" dirty="0" err="1">
                <a:ea typeface="等线" panose="02010600030101010101" charset="-122"/>
              </a:rPr>
              <a:t>iTOL</a:t>
            </a:r>
            <a:r>
              <a:rPr lang="en-US" altLang="zh-CN" sz="2000" dirty="0">
                <a:ea typeface="等线" panose="02010600030101010101" charset="-122"/>
              </a:rPr>
              <a:t> available online.  </a:t>
            </a:r>
            <a:r>
              <a:rPr lang="en-US" altLang="zh-CN" sz="2000" dirty="0">
                <a:ea typeface="等线" panose="02010600030101010101" charset="-122"/>
                <a:hlinkClick r:id="rId3"/>
              </a:rPr>
              <a:t>https://itol.embl.de/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zh-CN" sz="2000" dirty="0">
                <a:ea typeface="等线" panose="02010600030101010101" charset="-122"/>
              </a:rPr>
              <a:t>Download the </a:t>
            </a:r>
            <a:r>
              <a:rPr lang="en-US" altLang="zh-CN" sz="2000" dirty="0" err="1">
                <a:ea typeface="等线" panose="02010600030101010101" charset="-122"/>
              </a:rPr>
              <a:t>nwk</a:t>
            </a:r>
            <a:r>
              <a:rPr lang="en-US" altLang="zh-CN" sz="2000" dirty="0">
                <a:ea typeface="等线" panose="02010600030101010101" charset="-122"/>
              </a:rPr>
              <a:t> file to your laptop and upload to </a:t>
            </a:r>
            <a:r>
              <a:rPr lang="en-US" altLang="zh-CN" sz="2000" dirty="0" err="1">
                <a:ea typeface="等线" panose="02010600030101010101" charset="-122"/>
              </a:rPr>
              <a:t>itol</a:t>
            </a:r>
            <a:endParaRPr lang="en-US" altLang="zh-CN" sz="2000" dirty="0"/>
          </a:p>
          <a:p>
            <a:endParaRPr lang="en-US" altLang="zh-CN" sz="2000" dirty="0">
              <a:ea typeface="等线" panose="02010600030101010101" charset="-122"/>
              <a:cs typeface="Calibri" panose="020F05020202040302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83870" y="180975"/>
            <a:ext cx="108458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6.4 - Phylogenetic Tree Visualization on iTOL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20" y="3568065"/>
            <a:ext cx="4956175" cy="313182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rcRect l="-3500" t="387" r="37778"/>
          <a:stretch>
            <a:fillRect/>
          </a:stretch>
        </p:blipFill>
        <p:spPr>
          <a:xfrm>
            <a:off x="6666865" y="1276350"/>
            <a:ext cx="4093210" cy="260477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8266430" y="1376680"/>
            <a:ext cx="697230" cy="331470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2205" y="4023995"/>
            <a:ext cx="2532380" cy="2598420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7702550" y="6018530"/>
            <a:ext cx="697230" cy="331470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AA2D025-F4BE-8736-A203-968D8491FF3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30268" b="61597"/>
          <a:stretch>
            <a:fillRect/>
          </a:stretch>
        </p:blipFill>
        <p:spPr>
          <a:xfrm>
            <a:off x="541020" y="1968500"/>
            <a:ext cx="4984116" cy="1321436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83870" y="760095"/>
            <a:ext cx="11991340" cy="4603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Explore the options over the webserver and save the image for the best SSN </a:t>
            </a:r>
            <a:r>
              <a:rPr lang="en-US" altLang="zh-CN" sz="2400" dirty="0" err="1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Evalue</a:t>
            </a:r>
            <a:r>
              <a:rPr lang="en-US" altLang="zh-CN" sz="24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.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83870" y="180975"/>
            <a:ext cx="108458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6.4 - Phylogenetic Tree Visualization on iTOL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850" y="1551940"/>
            <a:ext cx="8172450" cy="493141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17170" y="1320730"/>
            <a:ext cx="5111115" cy="421653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 altLang="zh-CN" sz="2400" dirty="0"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Create color definition files to highlight those nodes(protein)</a:t>
            </a:r>
            <a:r>
              <a:rPr lang="zh-CN" altLang="en-US" sz="20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with</a:t>
            </a:r>
            <a:r>
              <a:rPr lang="zh-CN" altLang="en-US" sz="20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subfamily.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iTOL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revise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tree.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https://itol.embl.de/help.cgi#functions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“COLOR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RANGE”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subfamilies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tree.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https://itol.embl.de/help/colors_styles_template.txt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41935" y="78750"/>
            <a:ext cx="117081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6.5 - Using Color Ranges in iTOL for Visualizing SSN Subfamily Clustering 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3715" y="754380"/>
            <a:ext cx="6381115" cy="576326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66700" y="694337"/>
            <a:ext cx="8753475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Purpose: </a:t>
            </a:r>
            <a:r>
              <a:rPr lang="en-US" altLang="zh-CN" sz="20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to</a:t>
            </a:r>
            <a:r>
              <a:rPr lang="zh-CN" altLang="en-US" sz="20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create</a:t>
            </a:r>
            <a:r>
              <a:rPr lang="zh-CN" altLang="en-US" sz="20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the</a:t>
            </a:r>
            <a:r>
              <a:rPr lang="zh-CN" altLang="en-US" sz="20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Color DATASET</a:t>
            </a:r>
            <a:r>
              <a:rPr lang="zh-CN" altLang="en-US" sz="20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file to annotate the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Subfamily from SSN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3713" y="6163663"/>
            <a:ext cx="87534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python </a:t>
            </a:r>
            <a:r>
              <a:rPr sz="1600" dirty="0" err="1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ec.itol_color.py</a:t>
            </a:r>
            <a:r>
              <a:rPr sz="1600" dirty="0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 --input </a:t>
            </a:r>
            <a:r>
              <a:rPr sz="1600" dirty="0" err="1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ec.id.txt</a:t>
            </a:r>
            <a:r>
              <a:rPr sz="1600" dirty="0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 --output </a:t>
            </a:r>
            <a:r>
              <a:rPr sz="1600" dirty="0" err="1"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itol_ec_color.txt</a:t>
            </a:r>
            <a:endParaRPr sz="1600" dirty="0">
              <a:latin typeface="Courier New" panose="02070309020205020404"/>
              <a:ea typeface="等线" panose="02010600030101010101" charset="-122"/>
              <a:cs typeface="Courier New" panose="02070309020205020404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66700" y="29210"/>
            <a:ext cx="11811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6.5 - Using Color Ranges in iTOL for Visualizing SSN Subfamily Clustering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022BE1-69ED-648A-E9DF-94B52BB7E654}"/>
              </a:ext>
            </a:extLst>
          </p:cNvPr>
          <p:cNvSpPr txBox="1"/>
          <p:nvPr/>
        </p:nvSpPr>
        <p:spPr>
          <a:xfrm>
            <a:off x="648717" y="1625010"/>
            <a:ext cx="10083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cp ../</a:t>
            </a:r>
            <a:r>
              <a:rPr kumimoji="1" lang="en-US" altLang="zh-CN" sz="1600" dirty="0">
                <a:latin typeface="Courier New" panose="02070309020205020404"/>
                <a:ea typeface="等线" panose="02010600030101010101" charset="-122"/>
                <a:cs typeface="Courier New" panose="02070309020205020404"/>
                <a:sym typeface="+mn-ea"/>
              </a:rPr>
              <a:t>course-project-1-Subfamily-classification-of-glycoside-hydrolase-family</a:t>
            </a:r>
            <a:r>
              <a:rPr lang="en-US" altLang="zh-CN" sz="1600" dirty="0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/</a:t>
            </a:r>
            <a:r>
              <a:rPr lang="en-US" sz="1600" dirty="0" err="1">
                <a:solidFill>
                  <a:srgbClr val="000000"/>
                </a:solidFill>
                <a:highlight>
                  <a:srgbClr val="00FFFF"/>
                </a:highlight>
                <a:latin typeface="Courier New" panose="02070309020205020404"/>
                <a:ea typeface="等线" panose="02010600030101010101" charset="-122"/>
                <a:cs typeface="Courier New" panose="02070309020205020404"/>
                <a:sym typeface="+mn-ea"/>
              </a:rPr>
              <a:t>ec.itol_color.py</a:t>
            </a:r>
            <a:r>
              <a:rPr lang="en-US" sz="1600" dirty="0">
                <a:solidFill>
                  <a:srgbClr val="000000"/>
                </a:solidFill>
                <a:highlight>
                  <a:srgbClr val="00FFFF"/>
                </a:highlight>
                <a:latin typeface="Courier New" panose="02070309020205020404"/>
                <a:ea typeface="等线" panose="02010600030101010101" charset="-122"/>
                <a:cs typeface="Courier New" panose="02070309020205020404"/>
                <a:sym typeface="+mn-ea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  <a:sym typeface="+mn-ea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2EA2F8-884A-5711-825C-4991D7D2E7F8}"/>
              </a:ext>
            </a:extLst>
          </p:cNvPr>
          <p:cNvSpPr txBox="1"/>
          <p:nvPr/>
        </p:nvSpPr>
        <p:spPr>
          <a:xfrm>
            <a:off x="873252" y="2413337"/>
            <a:ext cx="72771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required file:</a:t>
            </a:r>
          </a:p>
          <a:p>
            <a:pPr marL="577850"/>
            <a:r>
              <a:rPr lang="en-US" dirty="0" err="1">
                <a:highlight>
                  <a:srgbClr val="FFFF00"/>
                </a:highlight>
              </a:rPr>
              <a:t>Characterized_ids.txt</a:t>
            </a:r>
            <a:endParaRPr lang="en-US" dirty="0">
              <a:highlight>
                <a:srgbClr val="FFFF00"/>
              </a:highlight>
            </a:endParaRPr>
          </a:p>
          <a:p>
            <a:pPr marL="577850"/>
            <a:r>
              <a:rPr lang="en-US" dirty="0">
                <a:highlight>
                  <a:srgbClr val="FFFF00"/>
                </a:highlight>
              </a:rPr>
              <a:t>GROUPS_100_Info.txt</a:t>
            </a:r>
            <a:endParaRPr lang="en-US" b="1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7850"/>
            <a:r>
              <a:rPr lang="en-US" dirty="0" err="1">
                <a:highlight>
                  <a:srgbClr val="FFFF00"/>
                </a:highlight>
              </a:rPr>
              <a:t>NodeTable_cs.txt</a:t>
            </a:r>
            <a:endParaRPr lang="en-US" dirty="0">
              <a:highlight>
                <a:srgbClr val="FFFF00"/>
              </a:highlight>
            </a:endParaRPr>
          </a:p>
          <a:p>
            <a:pPr marL="577850"/>
            <a:endParaRPr lang="en-US" dirty="0">
              <a:highlight>
                <a:srgbClr val="FFFF00"/>
              </a:highlight>
            </a:endParaRPr>
          </a:p>
          <a:p>
            <a:pPr marL="577850"/>
            <a:r>
              <a:rPr lang="en-US" dirty="0">
                <a:highlight>
                  <a:srgbClr val="FFFF00"/>
                </a:highlight>
              </a:rPr>
              <a:t>You need to copy those file from your previous work folder</a:t>
            </a:r>
          </a:p>
          <a:p>
            <a:pPr marL="577850"/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142A9F-7A1C-1A4B-2429-F859FBF4C5D4}"/>
              </a:ext>
            </a:extLst>
          </p:cNvPr>
          <p:cNvSpPr txBox="1"/>
          <p:nvPr/>
        </p:nvSpPr>
        <p:spPr>
          <a:xfrm>
            <a:off x="648717" y="1013480"/>
            <a:ext cx="97266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cp ../</a:t>
            </a:r>
            <a:r>
              <a:rPr kumimoji="1" lang="en-US" altLang="zh-CN" sz="1600" dirty="0">
                <a:latin typeface="Courier New" panose="02070309020205020404"/>
                <a:ea typeface="等线" panose="02010600030101010101" charset="-122"/>
                <a:cs typeface="Courier New" panose="02070309020205020404"/>
                <a:sym typeface="+mn-ea"/>
              </a:rPr>
              <a:t>course-project-1-Subfamily-classification-of-glycoside-hydrolase-family</a:t>
            </a:r>
            <a:r>
              <a:rPr lang="en-US" altLang="zh-CN" sz="1600" dirty="0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/</a:t>
            </a:r>
            <a:r>
              <a:rPr lang="en-US" sz="1600" dirty="0" err="1">
                <a:highlight>
                  <a:srgbClr val="00FFFF"/>
                </a:highlight>
                <a:latin typeface="Courier New" panose="02070309020205020404"/>
                <a:ea typeface="等线" panose="02010600030101010101" charset="-122"/>
                <a:cs typeface="Courier New" panose="02070309020205020404"/>
                <a:sym typeface="+mn-ea"/>
              </a:rPr>
              <a:t>itol_color_strip.py</a:t>
            </a:r>
            <a:r>
              <a:rPr lang="en-US" sz="1600" dirty="0">
                <a:solidFill>
                  <a:srgbClr val="000000"/>
                </a:solidFill>
                <a:highlight>
                  <a:srgbClr val="00FFFF"/>
                </a:highlight>
                <a:latin typeface="Courier New" panose="02070309020205020404"/>
                <a:ea typeface="等线" panose="02010600030101010101" charset="-122"/>
                <a:cs typeface="Courier New" panose="02070309020205020404"/>
                <a:sym typeface="+mn-ea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  <a:sym typeface="+mn-ea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C05380-2CCE-8E0E-5D89-660134992DD0}"/>
              </a:ext>
            </a:extLst>
          </p:cNvPr>
          <p:cNvSpPr txBox="1"/>
          <p:nvPr/>
        </p:nvSpPr>
        <p:spPr>
          <a:xfrm>
            <a:off x="533716" y="4417821"/>
            <a:ext cx="111245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  <a:sym typeface="+mn-ea"/>
              </a:rPr>
              <a:t>grep "&gt;" phylo_mafft_align_1e-100.fasta | cut -f1 -d'(' | sed 's/&gt;//' &gt; </a:t>
            </a:r>
            <a:r>
              <a:rPr lang="en-US" sz="1600" dirty="0">
                <a:latin typeface="Courier New" panose="02070309020205020404"/>
                <a:ea typeface="等线" panose="02010600030101010101" charset="-122"/>
                <a:cs typeface="Courier New" panose="02070309020205020404"/>
                <a:sym typeface="+mn-ea"/>
              </a:rPr>
              <a:t>list</a:t>
            </a:r>
            <a:endParaRPr lang="en-US" sz="1600" dirty="0">
              <a:solidFill>
                <a:schemeClr val="tx1"/>
              </a:solidFill>
              <a:latin typeface="Courier New" panose="02070309020205020404"/>
              <a:ea typeface="等线" panose="02010600030101010101" charset="-122"/>
              <a:cs typeface="Courier New" panose="0207030902020502040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8F12B9-C34E-9586-1791-98FFA379B21E}"/>
              </a:ext>
            </a:extLst>
          </p:cNvPr>
          <p:cNvSpPr txBox="1"/>
          <p:nvPr/>
        </p:nvSpPr>
        <p:spPr>
          <a:xfrm>
            <a:off x="533714" y="4854214"/>
            <a:ext cx="111245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python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itol_color_strip.py</a:t>
            </a:r>
            <a:r>
              <a:rPr lang="zh-CN" altLang="en-US" sz="1600" dirty="0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GROUPS_100_Info.txt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NodeTable_cs.txt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output</a:t>
            </a:r>
            <a:r>
              <a:rPr lang="en-US" altLang="zh-CN" sz="1600" dirty="0" err="1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.txt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 --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id_file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 list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F58D86-8AAA-5B1B-53B7-E5955A790AB9}"/>
              </a:ext>
            </a:extLst>
          </p:cNvPr>
          <p:cNvSpPr txBox="1"/>
          <p:nvPr/>
        </p:nvSpPr>
        <p:spPr>
          <a:xfrm>
            <a:off x="533714" y="5434882"/>
            <a:ext cx="111245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cat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Characterized_ids.txt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 | awk -v FS='\t' -v OFS='\t' '{print$1"|GH31",$2}' &gt;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/>
                <a:ea typeface="等线" panose="02010600030101010101" charset="-122"/>
                <a:cs typeface="Courier New" panose="02070309020205020404"/>
              </a:rPr>
              <a:t>ec.id.txt</a:t>
            </a:r>
            <a:endParaRPr lang="en-US" sz="1600" dirty="0">
              <a:solidFill>
                <a:srgbClr val="000000"/>
              </a:solidFill>
              <a:latin typeface="Courier New" panose="02070309020205020404"/>
              <a:ea typeface="等线" panose="02010600030101010101" charset="-122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374072" y="1294353"/>
            <a:ext cx="18046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b="1" dirty="0" err="1">
                <a:ea typeface="等线" panose="02010600030101010101" charset="-122"/>
                <a:sym typeface="+mn-ea"/>
              </a:rPr>
              <a:t>output.txt</a:t>
            </a:r>
            <a:endParaRPr lang="en-US" altLang="zh-CN" sz="2000" b="1" dirty="0">
              <a:ea typeface="等线" panose="02010600030101010101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8675" y="1805305"/>
            <a:ext cx="2112645" cy="47815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785" y="1805305"/>
            <a:ext cx="1805305" cy="4758338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84505" y="1294353"/>
            <a:ext cx="196088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000" b="1">
                <a:ea typeface="等线" panose="02010600030101010101" charset="-122"/>
                <a:sym typeface="+mn-ea"/>
              </a:rPr>
              <a:t>itol_ec_color.txt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7107" y="1950243"/>
            <a:ext cx="5919470" cy="3943985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1887855" y="2276475"/>
            <a:ext cx="523875" cy="4105275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4739005" y="2174875"/>
            <a:ext cx="742315" cy="4105275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8">
            <a:extLst>
              <a:ext uri="{FF2B5EF4-FFF2-40B4-BE49-F238E27FC236}">
                <a16:creationId xmlns:a16="http://schemas.microsoft.com/office/drawing/2014/main" id="{1A3E95F9-D068-8F54-F574-47C0FE0FEECD}"/>
              </a:ext>
            </a:extLst>
          </p:cNvPr>
          <p:cNvSpPr txBox="1"/>
          <p:nvPr/>
        </p:nvSpPr>
        <p:spPr>
          <a:xfrm>
            <a:off x="247015" y="87472"/>
            <a:ext cx="11640185" cy="5581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6.5 - Using Color Ranges in iTOL for Visualizing SSN Subfamily Clustering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351244-9C87-C35F-D262-A6CDF1A27BEB}"/>
              </a:ext>
            </a:extLst>
          </p:cNvPr>
          <p:cNvSpPr txBox="1"/>
          <p:nvPr/>
        </p:nvSpPr>
        <p:spPr>
          <a:xfrm>
            <a:off x="484505" y="645875"/>
            <a:ext cx="87293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Download</a:t>
            </a:r>
            <a:r>
              <a:rPr lang="zh-CN" altLang="en-US" sz="2000" b="1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those</a:t>
            </a:r>
            <a:r>
              <a:rPr lang="zh-CN" altLang="en-US" sz="2000" b="1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(two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outputs)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on</a:t>
            </a:r>
            <a:r>
              <a:rPr lang="zh-CN" altLang="en-US" sz="2000" b="1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your</a:t>
            </a:r>
            <a:r>
              <a:rPr lang="zh-CN" altLang="en-US" sz="2000" b="1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laptop</a:t>
            </a:r>
            <a:r>
              <a:rPr lang="zh-CN" altLang="en-US" sz="2000" b="1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and</a:t>
            </a:r>
            <a:r>
              <a:rPr lang="zh-CN" altLang="en-US" sz="2000" b="1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import</a:t>
            </a:r>
            <a:r>
              <a:rPr lang="zh-CN" altLang="en-US" sz="2000" b="1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it</a:t>
            </a:r>
            <a:r>
              <a:rPr lang="zh-CN" altLang="en-US" sz="2000" b="1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into</a:t>
            </a:r>
            <a:r>
              <a:rPr lang="zh-CN" altLang="en-US" sz="2000" b="1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iTOL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/>
        </p:nvSpPr>
        <p:spPr>
          <a:xfrm>
            <a:off x="8042875" y="2913288"/>
            <a:ext cx="1214096" cy="683491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/>
          <a:srcRect l="32870"/>
          <a:stretch>
            <a:fillRect/>
          </a:stretch>
        </p:blipFill>
        <p:spPr>
          <a:xfrm>
            <a:off x="4149126" y="1255093"/>
            <a:ext cx="3703474" cy="426194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1746" y="1506711"/>
            <a:ext cx="2708143" cy="37084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063" y="1743881"/>
            <a:ext cx="3011394" cy="3032234"/>
          </a:xfrm>
          <a:prstGeom prst="rect">
            <a:avLst/>
          </a:prstGeom>
        </p:spPr>
      </p:pic>
      <p:sp>
        <p:nvSpPr>
          <p:cNvPr id="11" name="Right Arrow 9"/>
          <p:cNvSpPr/>
          <p:nvPr/>
        </p:nvSpPr>
        <p:spPr>
          <a:xfrm>
            <a:off x="3205494" y="2925936"/>
            <a:ext cx="1214096" cy="683491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文本框 11"/>
          <p:cNvSpPr txBox="1"/>
          <p:nvPr/>
        </p:nvSpPr>
        <p:spPr>
          <a:xfrm>
            <a:off x="266700" y="5566739"/>
            <a:ext cx="8145709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Follow the steps to get legends.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We</a:t>
            </a:r>
            <a:r>
              <a:rPr lang="zh-CN" altLang="en-US" sz="24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have</a:t>
            </a:r>
            <a:r>
              <a:rPr lang="zh-CN" altLang="en-US" sz="24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two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ring</a:t>
            </a:r>
            <a:r>
              <a:rPr lang="en-US" altLang="zh-CN" sz="24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:</a:t>
            </a:r>
            <a:r>
              <a:rPr lang="zh-CN" altLang="en-US" sz="24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subfam</a:t>
            </a:r>
            <a:r>
              <a:rPr lang="zh-CN" altLang="en-US" sz="24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and</a:t>
            </a:r>
            <a:r>
              <a:rPr lang="zh-CN" altLang="en-US" sz="24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EC</a:t>
            </a:r>
            <a:r>
              <a:rPr lang="zh-CN" altLang="en-US" sz="24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number.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66700" y="149320"/>
            <a:ext cx="11709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6.5 - Using Color Ranges in iTOL for Visualizing SSN Subfamily Clustering 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AFDB5EB-C797-58CB-882E-651603B77233}"/>
              </a:ext>
            </a:extLst>
          </p:cNvPr>
          <p:cNvSpPr/>
          <p:nvPr/>
        </p:nvSpPr>
        <p:spPr>
          <a:xfrm>
            <a:off x="10861962" y="4972867"/>
            <a:ext cx="908663" cy="24224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81610" y="1317625"/>
            <a:ext cx="5548630" cy="403098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ea typeface="等线" panose="02010600030101010101" charset="-122"/>
                <a:cs typeface="Calibri" panose="020F0502020204030204"/>
              </a:rPr>
              <a:t>You could export the result as SVG/PNG file.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zh-CN" sz="2000" dirty="0">
              <a:ea typeface="等线" panose="02010600030101010101" charset="-122"/>
              <a:cs typeface="Calibri" panose="020F0502020204030204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FF0000"/>
                </a:solidFill>
                <a:ea typeface="等线" panose="02010600030101010101" charset="-122"/>
                <a:cs typeface="Calibri" panose="020F0502020204030204"/>
              </a:rPr>
              <a:t>NOTICE:</a:t>
            </a:r>
          </a:p>
          <a:p>
            <a:r>
              <a:rPr lang="en-US" altLang="zh-CN" sz="2000" dirty="0">
                <a:solidFill>
                  <a:srgbClr val="FF0000"/>
                </a:solidFill>
                <a:ea typeface="等线" panose="02010600030101010101" charset="-122"/>
                <a:cs typeface="Calibri" panose="020F0502020204030204"/>
              </a:rPr>
              <a:t>If you don’t have a subscription account, the annotations would not be saved. Please export the result when you finish.</a:t>
            </a:r>
          </a:p>
          <a:p>
            <a:endParaRPr lang="en-US" altLang="zh-CN" sz="2000" dirty="0">
              <a:solidFill>
                <a:srgbClr val="FF0000"/>
              </a:solidFill>
              <a:ea typeface="等线" panose="02010600030101010101" charset="-122"/>
              <a:cs typeface="Calibri" panose="020F0502020204030204"/>
            </a:endParaRPr>
          </a:p>
          <a:p>
            <a:r>
              <a:rPr lang="en-US" altLang="zh-CN" sz="2000" dirty="0">
                <a:solidFill>
                  <a:srgbClr val="FF0000"/>
                </a:solidFill>
                <a:ea typeface="等线" panose="02010600030101010101" charset="-122"/>
                <a:cs typeface="Calibri" panose="020F0502020204030204"/>
              </a:rPr>
              <a:t>Sign up an account to keep the result (without annotations).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fontAlgn="base"/>
            <a:endParaRPr lang="en-US" altLang="zh-CN" sz="2400" dirty="0"/>
          </a:p>
          <a:p>
            <a:pPr fontAlgn="base"/>
            <a:endParaRPr lang="en-US" altLang="zh-CN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9745" y="990282"/>
            <a:ext cx="6430645" cy="4877435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Part</a:t>
            </a:r>
            <a:r>
              <a:rPr lang="zh-CN" altLang="en-US"/>
              <a:t> </a:t>
            </a:r>
            <a:r>
              <a:rPr lang="en-US" altLang="zh-CN"/>
              <a:t>VII</a:t>
            </a:r>
            <a:br>
              <a:rPr lang="en-US" altLang="zh-CN"/>
            </a:br>
            <a:r>
              <a:rPr lang="en-US" altLang="zh-CN"/>
              <a:t>Other analysis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>
                <a:ea typeface="+mn-lt"/>
                <a:cs typeface="+mn-lt"/>
              </a:rPr>
              <a:t>Create your part7 folder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37321" y="921067"/>
            <a:ext cx="11317357" cy="50158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 rtl="0" fontAlgn="base"/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Interpretation and analysis of the subfamilies based on the Phylogeny and subfamilies from the selected E-value. </a:t>
            </a:r>
          </a:p>
          <a:p>
            <a:endParaRPr lang="en-US" altLang="zh-CN" sz="2000" dirty="0">
              <a:solidFill>
                <a:srgbClr val="000000"/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algn="l" rtl="0" fontAlgn="base"/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Interpretation steps and protocol: </a:t>
            </a:r>
          </a:p>
          <a:p>
            <a:pPr algn="l" rtl="0" fontAlgn="base"/>
            <a:endParaRPr lang="en-US" altLang="zh-CN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 fontAlgn="base">
              <a:buFont typeface="+mj-lt"/>
              <a:buAutoNum type="arabicPeriod"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Explain each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subfamily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in terms of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EC number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,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taxonomical diversity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,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enzyme activity and structures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. </a:t>
            </a:r>
          </a:p>
          <a:p>
            <a:pPr algn="just" rtl="0" fontAlgn="base">
              <a:buFont typeface="+mj-lt"/>
              <a:buAutoNum type="arabicPeriod"/>
            </a:pPr>
            <a:endParaRPr lang="en-US" altLang="zh-CN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 fontAlgn="base">
              <a:buFont typeface="+mj-lt"/>
              <a:buAutoNum type="arabicPeriod" startAt="2"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Select any one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characterized ID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and their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EC numbers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from each subfamily from the results (Output of “</a:t>
            </a:r>
            <a:r>
              <a:rPr lang="en-US" altLang="zh-CN" sz="2000" dirty="0" err="1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analysis_mapped.py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”).</a:t>
            </a:r>
          </a:p>
          <a:p>
            <a:pPr algn="just" rtl="0" fontAlgn="base"/>
            <a:endParaRPr lang="en-US" altLang="zh-CN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>
              <a:buFont typeface="+mj-lt"/>
              <a:buAutoNum type="arabicPeriod" startAt="3"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If PDB ID (Protein Data Bank,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hlinkClick r:id="rId3"/>
              </a:rPr>
              <a:t>https://www.rcsb.org/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) is available, take the structure, or else model them using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“Swiss-model” or AlphaFold2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.  </a:t>
            </a:r>
          </a:p>
          <a:p>
            <a:pPr algn="just" rtl="0" fontAlgn="base">
              <a:buFont typeface="+mj-lt"/>
              <a:buAutoNum type="arabicPeriod" startAt="3"/>
            </a:pPr>
            <a:endParaRPr lang="en-US" altLang="zh-CN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 fontAlgn="base">
              <a:buFont typeface="+mj-lt"/>
              <a:buAutoNum type="arabicPeriod" startAt="4"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Identify the common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catalytic domain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between each subfamily. </a:t>
            </a:r>
          </a:p>
          <a:p>
            <a:pPr algn="just" rtl="0" fontAlgn="base">
              <a:buFont typeface="+mj-lt"/>
              <a:buAutoNum type="arabicPeriod" startAt="4"/>
            </a:pPr>
            <a:endParaRPr lang="en-US" altLang="zh-CN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 fontAlgn="base">
              <a:buFont typeface="+mj-lt"/>
              <a:buAutoNum type="arabicPeriod" startAt="5"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Use </a:t>
            </a:r>
            <a:r>
              <a:rPr lang="en-US" altLang="zh-CN" sz="2000" dirty="0" err="1">
                <a:solidFill>
                  <a:srgbClr val="FF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PyMol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to load and visualize the structures. (Available in HCC interactive apps). 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17806" y="819509"/>
            <a:ext cx="674535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How to use </a:t>
            </a:r>
            <a:r>
              <a:rPr lang="en-US" altLang="zh-CN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Alaphfold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to search protein structure:</a:t>
            </a:r>
            <a:b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</a:br>
            <a:b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</a:b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1. If know the protein ID/name:</a:t>
            </a:r>
            <a:b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https://alphafold.ebi.ac.uk/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Directly search it.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2.  If it cannot be found, could try use sequence:</a:t>
            </a:r>
            <a:b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Use FASTA tool to search:  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https://www.ebi.ac.uk/Tools/sss/fasta/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5356" y="622794"/>
            <a:ext cx="5194851" cy="249554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1864" y="3262586"/>
            <a:ext cx="4281833" cy="2694252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0" y="0"/>
            <a:ext cx="12070080" cy="2676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 sz="2400"/>
          </a:p>
          <a:p>
            <a:r>
              <a:rPr lang="en-US" altLang="zh-CN" sz="2400"/>
              <a:t>   3. Try google </a:t>
            </a:r>
            <a:r>
              <a:rPr lang="en-US" altLang="zh-CN" sz="2400" err="1"/>
              <a:t>colab</a:t>
            </a:r>
            <a:r>
              <a:rPr lang="en-US" altLang="zh-CN" sz="2400"/>
              <a:t>:</a:t>
            </a:r>
            <a:br>
              <a:rPr lang="en-US" altLang="zh-CN" sz="2400"/>
            </a:br>
            <a:r>
              <a:rPr lang="en-US" altLang="zh-CN" sz="2400">
                <a:hlinkClick r:id="rId2"/>
              </a:rPr>
              <a:t>https://colab.research.google.com/github/sokrypton/ColabFold/blob/main/AlphaFold2.ipynb</a:t>
            </a:r>
            <a:endParaRPr lang="en-US" altLang="zh-CN" sz="2400"/>
          </a:p>
          <a:p>
            <a:endParaRPr lang="en-US" altLang="zh-CN" sz="2400"/>
          </a:p>
          <a:p>
            <a:endParaRPr lang="en-US" altLang="zh-CN" sz="2400"/>
          </a:p>
          <a:p>
            <a:endParaRPr lang="en-US" altLang="zh-CN" sz="2400"/>
          </a:p>
          <a:p>
            <a:endParaRPr lang="zh-CN" altLang="en-US" sz="240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9242" y="2291000"/>
            <a:ext cx="8748215" cy="375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52625" y="1122363"/>
            <a:ext cx="9144000" cy="2387600"/>
          </a:xfrm>
        </p:spPr>
        <p:txBody>
          <a:bodyPr/>
          <a:lstStyle/>
          <a:p>
            <a:r>
              <a:rPr lang="en-US" altLang="zh-CN">
                <a:ln>
                  <a:gradFill>
                    <a:gsLst>
                      <a:gs pos="50000">
                        <a:schemeClr val="accent2"/>
                      </a:gs>
                      <a:gs pos="0">
                        <a:schemeClr val="accent2">
                          <a:lumMod val="25000"/>
                          <a:lumOff val="75000"/>
                        </a:schemeClr>
                      </a:gs>
                      <a:gs pos="100000">
                        <a:schemeClr val="accent2">
                          <a:lumMod val="85000"/>
                        </a:schemeClr>
                      </a:gs>
                    </a:gsLst>
                    <a:lin ang="5400000" scaled="0"/>
                  </a:gradFill>
                </a:ln>
                <a:effectLst>
                  <a:innerShdw blurRad="63500" dist="685800" dir="18900000">
                    <a:schemeClr val="accent2">
                      <a:lumMod val="60000"/>
                      <a:lumOff val="40000"/>
                      <a:alpha val="50000"/>
                    </a:schemeClr>
                  </a:innerShdw>
                </a:effectLst>
                <a:latin typeface="Comic Sans MS" panose="030F0702030302020204" charset="0"/>
                <a:cs typeface="Comic Sans MS" panose="030F0702030302020204" charset="0"/>
              </a:rPr>
              <a:t>Any Questions?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044065" y="2184400"/>
            <a:ext cx="1384300" cy="112585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sz="8800"/>
              <a:t>👻</a:t>
            </a:r>
          </a:p>
        </p:txBody>
      </p:sp>
      <p:sp>
        <p:nvSpPr>
          <p:cNvPr id="8" name="文本框 7"/>
          <p:cNvSpPr txBox="1"/>
          <p:nvPr/>
        </p:nvSpPr>
        <p:spPr>
          <a:xfrm rot="2160000">
            <a:off x="11109325" y="-709930"/>
            <a:ext cx="2165350" cy="204597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sz="13800"/>
              <a:t>🕸</a:t>
            </a:r>
            <a:r>
              <a:rPr lang="en-US" altLang="zh-CN" sz="1600"/>
              <a:t>️</a:t>
            </a:r>
          </a:p>
        </p:txBody>
      </p:sp>
      <p:sp>
        <p:nvSpPr>
          <p:cNvPr id="9" name="文本框 8"/>
          <p:cNvSpPr txBox="1"/>
          <p:nvPr/>
        </p:nvSpPr>
        <p:spPr>
          <a:xfrm rot="20220000">
            <a:off x="-784225" y="5187315"/>
            <a:ext cx="2165350" cy="204597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sz="13800"/>
              <a:t>🕸</a:t>
            </a:r>
            <a:r>
              <a:rPr lang="en-US" altLang="zh-CN" sz="1600"/>
              <a:t>️</a:t>
            </a:r>
          </a:p>
        </p:txBody>
      </p:sp>
      <p:sp>
        <p:nvSpPr>
          <p:cNvPr id="17" name="文本框 16"/>
          <p:cNvSpPr txBox="1"/>
          <p:nvPr/>
        </p:nvSpPr>
        <p:spPr>
          <a:xfrm rot="2160000">
            <a:off x="-703580" y="-648970"/>
            <a:ext cx="2165350" cy="204597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sz="13800"/>
              <a:t>🕸</a:t>
            </a:r>
            <a:r>
              <a:rPr lang="en-US" altLang="zh-CN" sz="1600"/>
              <a:t>️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zI1MmNiMjM4ZjA1MmE1MGQ0YzU1YjE3YTI4NzJjOTA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72*277"/>
  <p:tag name="TABLE_ENDDRAG_RECT" val="43*239*872*27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29123</TotalTime>
  <Words>4044</Words>
  <Application>Microsoft Macintosh PowerPoint</Application>
  <PresentationFormat>Widescreen</PresentationFormat>
  <Paragraphs>527</Paragraphs>
  <Slides>61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61</vt:i4>
      </vt:variant>
    </vt:vector>
  </HeadingPairs>
  <TitlesOfParts>
    <vt:vector size="76" baseType="lpstr">
      <vt:lpstr>等线</vt:lpstr>
      <vt:lpstr>Elsevier Sans</vt:lpstr>
      <vt:lpstr>Montserrat-Bold</vt:lpstr>
      <vt:lpstr>Roboto Mono Web</vt:lpstr>
      <vt:lpstr>WordVisiCarriageReturn_MSFontService</vt:lpstr>
      <vt:lpstr>Aptos Mono</vt:lpstr>
      <vt:lpstr>Arial</vt:lpstr>
      <vt:lpstr>Calibri</vt:lpstr>
      <vt:lpstr>Calibri Light</vt:lpstr>
      <vt:lpstr>Comic Sans MS</vt:lpstr>
      <vt:lpstr>Courier New</vt:lpstr>
      <vt:lpstr>Times New Roman</vt:lpstr>
      <vt:lpstr>Wingdings</vt:lpstr>
      <vt:lpstr>Office Theme</vt:lpstr>
      <vt:lpstr>1_Office Theme</vt:lpstr>
      <vt:lpstr> Course Project 1: Subfamily classification of glycoside hydrolase family</vt:lpstr>
      <vt:lpstr>PowerPoint Presentation</vt:lpstr>
      <vt:lpstr>PowerPoint Presentation</vt:lpstr>
      <vt:lpstr> Workflow</vt:lpstr>
      <vt:lpstr>PowerPoint Presentation</vt:lpstr>
      <vt:lpstr>PowerPoint Presentation</vt:lpstr>
      <vt:lpstr>PowerPoint Presentation</vt:lpstr>
      <vt:lpstr>PowerPoint Presentation</vt:lpstr>
      <vt:lpstr>Part I Data preparation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 II Domain annotation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 III Domain extraction</vt:lpstr>
      <vt:lpstr>PowerPoint Presentation</vt:lpstr>
      <vt:lpstr>PowerPoint Presentation</vt:lpstr>
      <vt:lpstr>Part IV Sequence similarity networks (SSNpipe) 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 V Cytoscape Visualization</vt:lpstr>
      <vt:lpstr>PowerPoint Presentation</vt:lpstr>
      <vt:lpstr>PowerPoint Presentation</vt:lpstr>
      <vt:lpstr>PowerPoint Presentation</vt:lpstr>
      <vt:lpstr>PowerPoint Presentation</vt:lpstr>
      <vt:lpstr>Export the network to an Image or PDF</vt:lpstr>
      <vt:lpstr>Part VI Phylogenetic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 VII Other analysis</vt:lpstr>
      <vt:lpstr>PowerPoint Presentation</vt:lpstr>
      <vt:lpstr>PowerPoint Presentation</vt:lpstr>
      <vt:lpstr>PowerPoint Presentation</vt:lpstr>
      <vt:lpstr>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 I Data preparation</dc:title>
  <dc:creator/>
  <cp:lastModifiedBy>Lin Luo</cp:lastModifiedBy>
  <cp:revision>244</cp:revision>
  <dcterms:created xsi:type="dcterms:W3CDTF">2023-10-02T21:25:00Z</dcterms:created>
  <dcterms:modified xsi:type="dcterms:W3CDTF">2026-10-27T03:07:19Z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BBD3E599456746E3954E0B028E2268C1_12</vt:lpwstr>
  </property>
  <property fmtid="{D5CDD505-2E9C-101B-9397-08002B2CF9AE}" pid="3" name="KSOProductBuildVer">
    <vt:lpwstr>2052-12.1.0.18608</vt:lpwstr>
  </property>
</Properties>
</file>